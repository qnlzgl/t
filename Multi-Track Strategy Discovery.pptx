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F"/>
        </a:solidFill>
      </p:bgPr>
    </p:bg>
    <p:spTree>
      <p:nvGrpSpPr>
        <p:cNvPr id="1" name=""/>
        <p:cNvGrpSpPr/>
        <p:nvPr/>
      </p:nvGrpSpPr>
      <p:grpSpPr>
        <a:xfrm>
          <a:off x="0" y="0"/>
          <a:ext cx="0" cy="0"/>
          <a:chOff x="0" y="0"/>
          <a:chExt cx="0" cy="0"/>
        </a:xfrm>
      </p:grpSpPr>
      <p:sp>
        <p:nvSpPr>
          <p:cNvPr id="2" name="Shape 0"/>
          <p:cNvSpPr/>
          <p:nvPr/>
        </p:nvSpPr>
        <p:spPr>
          <a:xfrm>
            <a:off x="548640" y="548640"/>
            <a:ext cx="164592" cy="164592"/>
          </a:xfrm>
          <a:prstGeom prst="ellipse">
            <a:avLst/>
          </a:prstGeom>
          <a:solidFill>
            <a:srgbClr val="00C2A8"/>
          </a:solidFill>
          <a:ln w="12700">
            <a:solidFill>
              <a:srgbClr val="00C2A8"/>
            </a:solidFill>
            <a:prstDash val="solid"/>
          </a:ln>
        </p:spPr>
      </p:sp>
      <p:sp>
        <p:nvSpPr>
          <p:cNvPr id="3" name="Text 1"/>
          <p:cNvSpPr/>
          <p:nvPr/>
        </p:nvSpPr>
        <p:spPr>
          <a:xfrm>
            <a:off x="868680" y="502920"/>
            <a:ext cx="7315200" cy="274320"/>
          </a:xfrm>
          <a:prstGeom prst="rect">
            <a:avLst/>
          </a:prstGeom>
          <a:noFill/>
          <a:ln/>
        </p:spPr>
        <p:txBody>
          <a:bodyPr wrap="square" lIns="0" tIns="0" rIns="0" bIns="0" rtlCol="0" anchor="ctr"/>
          <a:lstStyle/>
          <a:p>
            <a:pPr indent="0" marL="0">
              <a:buNone/>
            </a:pPr>
            <a:r>
              <a:rPr lang="en-US" sz="1100" b="1" spc="500" kern="0" dirty="0">
                <a:solidFill>
                  <a:srgbClr val="00C2A8"/>
                </a:solidFill>
              </a:rPr>
              <a:t>STRATEGY DISCOVERY • INTERNAL REVIEW</a:t>
            </a:r>
            <a:endParaRPr lang="en-US" sz="1100" dirty="0"/>
          </a:p>
        </p:txBody>
      </p:sp>
      <p:sp>
        <p:nvSpPr>
          <p:cNvPr id="4" name="Text 2"/>
          <p:cNvSpPr/>
          <p:nvPr/>
        </p:nvSpPr>
        <p:spPr>
          <a:xfrm>
            <a:off x="548640" y="2103120"/>
            <a:ext cx="10972800" cy="868680"/>
          </a:xfrm>
          <a:prstGeom prst="rect">
            <a:avLst/>
          </a:prstGeom>
          <a:noFill/>
          <a:ln/>
        </p:spPr>
        <p:txBody>
          <a:bodyPr wrap="square" lIns="0" tIns="0" rIns="0" bIns="0"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Multi-Track Agentic</a:t>
            </a:r>
            <a:endParaRPr lang="en-US" sz="4400" dirty="0"/>
          </a:p>
        </p:txBody>
      </p:sp>
      <p:sp>
        <p:nvSpPr>
          <p:cNvPr id="5" name="Text 3"/>
          <p:cNvSpPr/>
          <p:nvPr/>
        </p:nvSpPr>
        <p:spPr>
          <a:xfrm>
            <a:off x="548640" y="2788920"/>
            <a:ext cx="10972800" cy="868680"/>
          </a:xfrm>
          <a:prstGeom prst="rect">
            <a:avLst/>
          </a:prstGeom>
          <a:noFill/>
          <a:ln/>
        </p:spPr>
        <p:txBody>
          <a:bodyPr wrap="square" lIns="0" tIns="0" rIns="0" bIns="0"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Strategy Discovery</a:t>
            </a:r>
            <a:endParaRPr lang="en-US" sz="4400" dirty="0"/>
          </a:p>
        </p:txBody>
      </p:sp>
      <p:sp>
        <p:nvSpPr>
          <p:cNvPr id="6" name="Text 4"/>
          <p:cNvSpPr/>
          <p:nvPr/>
        </p:nvSpPr>
        <p:spPr>
          <a:xfrm>
            <a:off x="548640" y="3657600"/>
            <a:ext cx="10972800" cy="365760"/>
          </a:xfrm>
          <a:prstGeom prst="rect">
            <a:avLst/>
          </a:prstGeom>
          <a:noFill/>
          <a:ln/>
        </p:spPr>
        <p:txBody>
          <a:bodyPr wrap="square" lIns="0" tIns="0" rIns="0" bIns="0" rtlCol="0" anchor="t"/>
          <a:lstStyle/>
          <a:p>
            <a:pPr indent="0" marL="0">
              <a:buNone/>
            </a:pPr>
            <a:r>
              <a:rPr lang="en-US" sz="1700" i="1" dirty="0">
                <a:solidFill>
                  <a:srgbClr val="CADCFC"/>
                </a:solidFill>
                <a:latin typeface="Calibri" pitchFamily="34" charset="0"/>
                <a:ea typeface="Calibri" pitchFamily="34" charset="-122"/>
                <a:cs typeface="Calibri" pitchFamily="34" charset="-120"/>
              </a:rPr>
              <a:t>Four parallel tracks for systematic alpha generation in commodities</a:t>
            </a:r>
            <a:endParaRPr lang="en-US" sz="1700" dirty="0"/>
          </a:p>
        </p:txBody>
      </p:sp>
      <p:sp>
        <p:nvSpPr>
          <p:cNvPr id="7" name="Shape 5"/>
          <p:cNvSpPr/>
          <p:nvPr/>
        </p:nvSpPr>
        <p:spPr>
          <a:xfrm>
            <a:off x="548640" y="4206240"/>
            <a:ext cx="2606040" cy="457200"/>
          </a:xfrm>
          <a:prstGeom prst="rect">
            <a:avLst/>
          </a:prstGeom>
          <a:solidFill>
            <a:srgbClr val="FFFFFF">
              <a:alpha val="10000"/>
            </a:srgbClr>
          </a:solidFill>
          <a:ln w="19050">
            <a:solidFill>
              <a:srgbClr val="0EA5E9"/>
            </a:solidFill>
            <a:prstDash val="solid"/>
          </a:ln>
        </p:spPr>
      </p:sp>
      <p:sp>
        <p:nvSpPr>
          <p:cNvPr id="8" name="Shape 6"/>
          <p:cNvSpPr/>
          <p:nvPr/>
        </p:nvSpPr>
        <p:spPr>
          <a:xfrm>
            <a:off x="548640" y="4206240"/>
            <a:ext cx="73152" cy="457200"/>
          </a:xfrm>
          <a:prstGeom prst="rect">
            <a:avLst/>
          </a:prstGeom>
          <a:solidFill>
            <a:srgbClr val="0EA5E9"/>
          </a:solidFill>
          <a:ln w="12700">
            <a:solidFill>
              <a:srgbClr val="333333"/>
            </a:solidFill>
            <a:prstDash val="solid"/>
          </a:ln>
        </p:spPr>
      </p:sp>
      <p:sp>
        <p:nvSpPr>
          <p:cNvPr id="9" name="Text 7"/>
          <p:cNvSpPr/>
          <p:nvPr/>
        </p:nvSpPr>
        <p:spPr>
          <a:xfrm>
            <a:off x="731520" y="4206240"/>
            <a:ext cx="2423160" cy="457200"/>
          </a:xfrm>
          <a:prstGeom prst="rect">
            <a:avLst/>
          </a:prstGeom>
          <a:noFill/>
          <a:ln/>
        </p:spPr>
        <p:txBody>
          <a:bodyPr wrap="square" lIns="0" tIns="0" rIns="0" bIns="0" rtlCol="0" anchor="ctr"/>
          <a:lstStyle/>
          <a:p>
            <a:pPr indent="0" marL="0">
              <a:buNone/>
            </a:pPr>
            <a:r>
              <a:rPr lang="en-US" sz="1150" b="1" dirty="0">
                <a:solidFill>
                  <a:srgbClr val="FFFFFF"/>
                </a:solidFill>
              </a:rPr>
              <a:t>Track 1 · Price Discovery</a:t>
            </a:r>
            <a:endParaRPr lang="en-US" sz="1150" dirty="0"/>
          </a:p>
        </p:txBody>
      </p:sp>
      <p:sp>
        <p:nvSpPr>
          <p:cNvPr id="10" name="Shape 8"/>
          <p:cNvSpPr/>
          <p:nvPr/>
        </p:nvSpPr>
        <p:spPr>
          <a:xfrm>
            <a:off x="3337560" y="4206240"/>
            <a:ext cx="2606040" cy="457200"/>
          </a:xfrm>
          <a:prstGeom prst="rect">
            <a:avLst/>
          </a:prstGeom>
          <a:solidFill>
            <a:srgbClr val="FFFFFF">
              <a:alpha val="10000"/>
            </a:srgbClr>
          </a:solidFill>
          <a:ln w="19050">
            <a:solidFill>
              <a:srgbClr val="8B5CF6"/>
            </a:solidFill>
            <a:prstDash val="solid"/>
          </a:ln>
        </p:spPr>
      </p:sp>
      <p:sp>
        <p:nvSpPr>
          <p:cNvPr id="11" name="Shape 9"/>
          <p:cNvSpPr/>
          <p:nvPr/>
        </p:nvSpPr>
        <p:spPr>
          <a:xfrm>
            <a:off x="3337560" y="4206240"/>
            <a:ext cx="73152" cy="457200"/>
          </a:xfrm>
          <a:prstGeom prst="rect">
            <a:avLst/>
          </a:prstGeom>
          <a:solidFill>
            <a:srgbClr val="8B5CF6"/>
          </a:solidFill>
          <a:ln w="12700">
            <a:solidFill>
              <a:srgbClr val="333333"/>
            </a:solidFill>
            <a:prstDash val="solid"/>
          </a:ln>
        </p:spPr>
      </p:sp>
      <p:sp>
        <p:nvSpPr>
          <p:cNvPr id="12" name="Text 10"/>
          <p:cNvSpPr/>
          <p:nvPr/>
        </p:nvSpPr>
        <p:spPr>
          <a:xfrm>
            <a:off x="3520440" y="4206240"/>
            <a:ext cx="2423160" cy="457200"/>
          </a:xfrm>
          <a:prstGeom prst="rect">
            <a:avLst/>
          </a:prstGeom>
          <a:noFill/>
          <a:ln/>
        </p:spPr>
        <p:txBody>
          <a:bodyPr wrap="square" lIns="0" tIns="0" rIns="0" bIns="0" rtlCol="0" anchor="ctr"/>
          <a:lstStyle/>
          <a:p>
            <a:pPr indent="0" marL="0">
              <a:buNone/>
            </a:pPr>
            <a:r>
              <a:rPr lang="en-US" sz="1150" b="1" dirty="0">
                <a:solidFill>
                  <a:srgbClr val="FFFFFF"/>
                </a:solidFill>
              </a:rPr>
              <a:t>Track 2 · Paper-Induced</a:t>
            </a:r>
            <a:endParaRPr lang="en-US" sz="1150" dirty="0"/>
          </a:p>
        </p:txBody>
      </p:sp>
      <p:sp>
        <p:nvSpPr>
          <p:cNvPr id="13" name="Shape 11"/>
          <p:cNvSpPr/>
          <p:nvPr/>
        </p:nvSpPr>
        <p:spPr>
          <a:xfrm>
            <a:off x="6126480" y="4206240"/>
            <a:ext cx="2606040" cy="457200"/>
          </a:xfrm>
          <a:prstGeom prst="rect">
            <a:avLst/>
          </a:prstGeom>
          <a:solidFill>
            <a:srgbClr val="FFFFFF">
              <a:alpha val="10000"/>
            </a:srgbClr>
          </a:solidFill>
          <a:ln w="19050">
            <a:solidFill>
              <a:srgbClr val="F59E0B"/>
            </a:solidFill>
            <a:prstDash val="solid"/>
          </a:ln>
        </p:spPr>
      </p:sp>
      <p:sp>
        <p:nvSpPr>
          <p:cNvPr id="14" name="Shape 12"/>
          <p:cNvSpPr/>
          <p:nvPr/>
        </p:nvSpPr>
        <p:spPr>
          <a:xfrm>
            <a:off x="6126480" y="4206240"/>
            <a:ext cx="73152" cy="457200"/>
          </a:xfrm>
          <a:prstGeom prst="rect">
            <a:avLst/>
          </a:prstGeom>
          <a:solidFill>
            <a:srgbClr val="F59E0B"/>
          </a:solidFill>
          <a:ln w="12700">
            <a:solidFill>
              <a:srgbClr val="333333"/>
            </a:solidFill>
            <a:prstDash val="solid"/>
          </a:ln>
        </p:spPr>
      </p:sp>
      <p:sp>
        <p:nvSpPr>
          <p:cNvPr id="15" name="Text 13"/>
          <p:cNvSpPr/>
          <p:nvPr/>
        </p:nvSpPr>
        <p:spPr>
          <a:xfrm>
            <a:off x="6309360" y="4206240"/>
            <a:ext cx="2423160" cy="457200"/>
          </a:xfrm>
          <a:prstGeom prst="rect">
            <a:avLst/>
          </a:prstGeom>
          <a:noFill/>
          <a:ln/>
        </p:spPr>
        <p:txBody>
          <a:bodyPr wrap="square" lIns="0" tIns="0" rIns="0" bIns="0" rtlCol="0" anchor="ctr"/>
          <a:lstStyle/>
          <a:p>
            <a:pPr indent="0" marL="0">
              <a:buNone/>
            </a:pPr>
            <a:r>
              <a:rPr lang="en-US" sz="1150" b="1" dirty="0">
                <a:solidFill>
                  <a:srgbClr val="FFFFFF"/>
                </a:solidFill>
              </a:rPr>
              <a:t>Track 3 · Commodity Experts</a:t>
            </a:r>
            <a:endParaRPr lang="en-US" sz="1150" dirty="0"/>
          </a:p>
        </p:txBody>
      </p:sp>
      <p:sp>
        <p:nvSpPr>
          <p:cNvPr id="16" name="Shape 14"/>
          <p:cNvSpPr/>
          <p:nvPr/>
        </p:nvSpPr>
        <p:spPr>
          <a:xfrm>
            <a:off x="8915400" y="4206240"/>
            <a:ext cx="2606040" cy="457200"/>
          </a:xfrm>
          <a:prstGeom prst="rect">
            <a:avLst/>
          </a:prstGeom>
          <a:solidFill>
            <a:srgbClr val="FFFFFF">
              <a:alpha val="10000"/>
            </a:srgbClr>
          </a:solidFill>
          <a:ln w="19050">
            <a:solidFill>
              <a:srgbClr val="10B981"/>
            </a:solidFill>
            <a:prstDash val="solid"/>
          </a:ln>
        </p:spPr>
      </p:sp>
      <p:sp>
        <p:nvSpPr>
          <p:cNvPr id="17" name="Shape 15"/>
          <p:cNvSpPr/>
          <p:nvPr/>
        </p:nvSpPr>
        <p:spPr>
          <a:xfrm>
            <a:off x="8915400" y="4206240"/>
            <a:ext cx="73152" cy="457200"/>
          </a:xfrm>
          <a:prstGeom prst="rect">
            <a:avLst/>
          </a:prstGeom>
          <a:solidFill>
            <a:srgbClr val="10B981"/>
          </a:solidFill>
          <a:ln w="12700">
            <a:solidFill>
              <a:srgbClr val="333333"/>
            </a:solidFill>
            <a:prstDash val="solid"/>
          </a:ln>
        </p:spPr>
      </p:sp>
      <p:sp>
        <p:nvSpPr>
          <p:cNvPr id="18" name="Text 16"/>
          <p:cNvSpPr/>
          <p:nvPr/>
        </p:nvSpPr>
        <p:spPr>
          <a:xfrm>
            <a:off x="9098280" y="4206240"/>
            <a:ext cx="2423160" cy="457200"/>
          </a:xfrm>
          <a:prstGeom prst="rect">
            <a:avLst/>
          </a:prstGeom>
          <a:noFill/>
          <a:ln/>
        </p:spPr>
        <p:txBody>
          <a:bodyPr wrap="square" lIns="0" tIns="0" rIns="0" bIns="0" rtlCol="0" anchor="ctr"/>
          <a:lstStyle/>
          <a:p>
            <a:pPr indent="0" marL="0">
              <a:buNone/>
            </a:pPr>
            <a:r>
              <a:rPr lang="en-US" sz="1150" b="1" dirty="0">
                <a:solidFill>
                  <a:srgbClr val="FFFFFF"/>
                </a:solidFill>
              </a:rPr>
              <a:t>Track 4 · Strategy Archetypes</a:t>
            </a:r>
            <a:endParaRPr lang="en-US" sz="1150" dirty="0"/>
          </a:p>
        </p:txBody>
      </p:sp>
      <p:sp>
        <p:nvSpPr>
          <p:cNvPr id="19" name="Text 17"/>
          <p:cNvSpPr/>
          <p:nvPr/>
        </p:nvSpPr>
        <p:spPr>
          <a:xfrm>
            <a:off x="548640" y="6126480"/>
            <a:ext cx="9144000" cy="274320"/>
          </a:xfrm>
          <a:prstGeom prst="rect">
            <a:avLst/>
          </a:prstGeom>
          <a:noFill/>
          <a:ln/>
        </p:spPr>
        <p:txBody>
          <a:bodyPr wrap="square" lIns="0" tIns="0" rIns="0" bIns="0" rtlCol="0" anchor="ctr"/>
          <a:lstStyle/>
          <a:p>
            <a:pPr indent="0" marL="0">
              <a:buNone/>
            </a:pPr>
            <a:r>
              <a:rPr lang="en-US" sz="1100" dirty="0">
                <a:solidFill>
                  <a:srgbClr val="CADCFC"/>
                </a:solidFill>
              </a:rPr>
              <a:t>Guanlun  •  Commodities Systematic Strategies  •  London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b="1" spc="400" kern="0" dirty="0">
                <a:solidFill>
                  <a:srgbClr val="00C2A8"/>
                </a:solidFill>
                <a:latin typeface="Calibri" pitchFamily="34" charset="0"/>
                <a:ea typeface="Calibri" pitchFamily="34" charset="-122"/>
                <a:cs typeface="Calibri" pitchFamily="34" charset="-120"/>
              </a:rPr>
              <a:t>OVERVIEW</a:t>
            </a:r>
            <a:endParaRPr lang="en-US" sz="1100" dirty="0"/>
          </a:p>
        </p:txBody>
      </p:sp>
      <p:sp>
        <p:nvSpPr>
          <p:cNvPr id="3" name="Text 1"/>
          <p:cNvSpPr/>
          <p:nvPr/>
        </p:nvSpPr>
        <p:spPr>
          <a:xfrm>
            <a:off x="548640" y="713232"/>
            <a:ext cx="11155680" cy="64008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Four tracks across two dimensions</a:t>
            </a:r>
            <a:endParaRPr lang="en-US" sz="2800" dirty="0"/>
          </a:p>
        </p:txBody>
      </p:sp>
      <p:sp>
        <p:nvSpPr>
          <p:cNvPr id="4" name="Text 2"/>
          <p:cNvSpPr/>
          <p:nvPr/>
        </p:nvSpPr>
        <p:spPr>
          <a:xfrm>
            <a:off x="548640" y="1325880"/>
            <a:ext cx="10972800" cy="365760"/>
          </a:xfrm>
          <a:prstGeom prst="rect">
            <a:avLst/>
          </a:prstGeom>
          <a:noFill/>
          <a:ln/>
        </p:spPr>
        <p:txBody>
          <a:bodyPr wrap="square" lIns="0" tIns="0" rIns="0" bIns="0" rtlCol="0" anchor="t"/>
          <a:lstStyle/>
          <a:p>
            <a:pPr indent="0" marL="0">
              <a:buNone/>
            </a:pPr>
            <a:r>
              <a:rPr lang="en-US" sz="1400" i="1" dirty="0">
                <a:solidFill>
                  <a:srgbClr val="475569"/>
                </a:solidFill>
              </a:rPr>
              <a:t>Each track searches a different region of the alpha space. They are complementary, not redundant.</a:t>
            </a:r>
            <a:endParaRPr lang="en-US" sz="1400" dirty="0"/>
          </a:p>
        </p:txBody>
      </p:sp>
      <p:sp>
        <p:nvSpPr>
          <p:cNvPr id="5" name="Text 3"/>
          <p:cNvSpPr/>
          <p:nvPr/>
        </p:nvSpPr>
        <p:spPr>
          <a:xfrm>
            <a:off x="1828800" y="1783080"/>
            <a:ext cx="8549640" cy="274320"/>
          </a:xfrm>
          <a:prstGeom prst="rect">
            <a:avLst/>
          </a:prstGeom>
          <a:noFill/>
          <a:ln/>
        </p:spPr>
        <p:txBody>
          <a:bodyPr wrap="square" lIns="0" tIns="0" rIns="0" bIns="0" rtlCol="0" anchor="ctr"/>
          <a:lstStyle/>
          <a:p>
            <a:pPr algn="ctr" indent="0" marL="0">
              <a:buNone/>
            </a:pPr>
            <a:r>
              <a:rPr lang="en-US" sz="1000" b="1" spc="300" kern="0" dirty="0">
                <a:solidFill>
                  <a:srgbClr val="475569"/>
                </a:solidFill>
              </a:rPr>
              <a:t>BROAD SCOPE  →  cross-asset</a:t>
            </a:r>
            <a:endParaRPr lang="en-US" sz="1000" dirty="0"/>
          </a:p>
        </p:txBody>
      </p:sp>
      <p:sp>
        <p:nvSpPr>
          <p:cNvPr id="6" name="Text 4"/>
          <p:cNvSpPr/>
          <p:nvPr/>
        </p:nvSpPr>
        <p:spPr>
          <a:xfrm>
            <a:off x="1828800" y="5943600"/>
            <a:ext cx="8549640" cy="274320"/>
          </a:xfrm>
          <a:prstGeom prst="rect">
            <a:avLst/>
          </a:prstGeom>
          <a:noFill/>
          <a:ln/>
        </p:spPr>
        <p:txBody>
          <a:bodyPr wrap="square" lIns="0" tIns="0" rIns="0" bIns="0" rtlCol="0" anchor="ctr"/>
          <a:lstStyle/>
          <a:p>
            <a:pPr algn="ctr" indent="0" marL="0">
              <a:buNone/>
            </a:pPr>
            <a:r>
              <a:rPr lang="en-US" sz="1000" b="1" spc="300" kern="0" dirty="0">
                <a:solidFill>
                  <a:srgbClr val="475569"/>
                </a:solidFill>
              </a:rPr>
              <a:t>NARROW SCOPE  →  specialized</a:t>
            </a:r>
            <a:endParaRPr lang="en-US" sz="1000" dirty="0"/>
          </a:p>
        </p:txBody>
      </p:sp>
      <p:sp>
        <p:nvSpPr>
          <p:cNvPr id="7" name="Text 5"/>
          <p:cNvSpPr/>
          <p:nvPr/>
        </p:nvSpPr>
        <p:spPr>
          <a:xfrm>
            <a:off x="502920" y="2468880"/>
            <a:ext cx="1188720" cy="914400"/>
          </a:xfrm>
          <a:prstGeom prst="rect">
            <a:avLst/>
          </a:prstGeom>
          <a:noFill/>
          <a:ln/>
        </p:spPr>
        <p:txBody>
          <a:bodyPr wrap="square" lIns="0" tIns="0" rIns="0" bIns="0" rtlCol="0" anchor="ctr"/>
          <a:lstStyle/>
          <a:p>
            <a:pPr algn="r" indent="0" marL="0">
              <a:buNone/>
            </a:pPr>
            <a:r>
              <a:rPr lang="en-US" sz="1000" b="1" spc="300" kern="0" dirty="0">
                <a:solidFill>
                  <a:srgbClr val="475569"/>
                </a:solidFill>
              </a:rPr>
              <a:t>DATA</a:t>
            </a:r>
            <a:endParaRPr lang="en-US" sz="1000" dirty="0"/>
          </a:p>
          <a:p>
            <a:pPr algn="r" indent="0" marL="0">
              <a:buNone/>
            </a:pPr>
            <a:r>
              <a:rPr lang="en-US" sz="1000" b="1" spc="300" kern="0" dirty="0">
                <a:solidFill>
                  <a:srgbClr val="475569"/>
                </a:solidFill>
              </a:rPr>
              <a:t>DRIVEN</a:t>
            </a:r>
            <a:endParaRPr lang="en-US" sz="1000" dirty="0"/>
          </a:p>
        </p:txBody>
      </p:sp>
      <p:sp>
        <p:nvSpPr>
          <p:cNvPr id="8" name="Text 6"/>
          <p:cNvSpPr/>
          <p:nvPr/>
        </p:nvSpPr>
        <p:spPr>
          <a:xfrm>
            <a:off x="502920" y="4251960"/>
            <a:ext cx="1188720" cy="914400"/>
          </a:xfrm>
          <a:prstGeom prst="rect">
            <a:avLst/>
          </a:prstGeom>
          <a:noFill/>
          <a:ln/>
        </p:spPr>
        <p:txBody>
          <a:bodyPr wrap="square" lIns="0" tIns="0" rIns="0" bIns="0" rtlCol="0" anchor="ctr"/>
          <a:lstStyle/>
          <a:p>
            <a:pPr algn="r" indent="0" marL="0">
              <a:buNone/>
            </a:pPr>
            <a:r>
              <a:rPr lang="en-US" sz="1000" b="1" spc="300" kern="0" dirty="0">
                <a:solidFill>
                  <a:srgbClr val="475569"/>
                </a:solidFill>
              </a:rPr>
              <a:t>HYPOTHESIS</a:t>
            </a:r>
            <a:endParaRPr lang="en-US" sz="1000" dirty="0"/>
          </a:p>
          <a:p>
            <a:pPr algn="r" indent="0" marL="0">
              <a:buNone/>
            </a:pPr>
            <a:r>
              <a:rPr lang="en-US" sz="1000" b="1" spc="300" kern="0" dirty="0">
                <a:solidFill>
                  <a:srgbClr val="475569"/>
                </a:solidFill>
              </a:rPr>
              <a:t>DRIVEN</a:t>
            </a:r>
            <a:endParaRPr lang="en-US" sz="1000" dirty="0"/>
          </a:p>
        </p:txBody>
      </p:sp>
      <p:sp>
        <p:nvSpPr>
          <p:cNvPr id="9" name="Shape 7"/>
          <p:cNvSpPr/>
          <p:nvPr/>
        </p:nvSpPr>
        <p:spPr>
          <a:xfrm>
            <a:off x="1828800" y="2194560"/>
            <a:ext cx="4206240" cy="1783080"/>
          </a:xfrm>
          <a:prstGeom prst="rect">
            <a:avLst/>
          </a:prstGeom>
          <a:solidFill>
            <a:srgbClr val="F4F6FA"/>
          </a:solidFill>
          <a:ln w="12700">
            <a:solidFill>
              <a:srgbClr val="E2E8F0"/>
            </a:solidFill>
            <a:prstDash val="solid"/>
          </a:ln>
        </p:spPr>
      </p:sp>
      <p:sp>
        <p:nvSpPr>
          <p:cNvPr id="10" name="Shape 8"/>
          <p:cNvSpPr/>
          <p:nvPr/>
        </p:nvSpPr>
        <p:spPr>
          <a:xfrm>
            <a:off x="1828800" y="2194560"/>
            <a:ext cx="91440" cy="1783080"/>
          </a:xfrm>
          <a:prstGeom prst="rect">
            <a:avLst/>
          </a:prstGeom>
          <a:solidFill>
            <a:srgbClr val="0EA5E9"/>
          </a:solidFill>
          <a:ln w="12700">
            <a:solidFill>
              <a:srgbClr val="333333"/>
            </a:solidFill>
            <a:prstDash val="solid"/>
          </a:ln>
        </p:spPr>
      </p:sp>
      <p:sp>
        <p:nvSpPr>
          <p:cNvPr id="11" name="Text 9"/>
          <p:cNvSpPr/>
          <p:nvPr/>
        </p:nvSpPr>
        <p:spPr>
          <a:xfrm>
            <a:off x="2103120" y="2331720"/>
            <a:ext cx="1371600" cy="274320"/>
          </a:xfrm>
          <a:prstGeom prst="rect">
            <a:avLst/>
          </a:prstGeom>
          <a:noFill/>
          <a:ln/>
        </p:spPr>
        <p:txBody>
          <a:bodyPr wrap="square" lIns="0" tIns="0" rIns="0" bIns="0" rtlCol="0" anchor="ctr"/>
          <a:lstStyle/>
          <a:p>
            <a:pPr indent="0" marL="0">
              <a:buNone/>
            </a:pPr>
            <a:r>
              <a:rPr lang="en-US" sz="1000" b="1" spc="300" kern="0" dirty="0">
                <a:solidFill>
                  <a:srgbClr val="0EA5E9"/>
                </a:solidFill>
              </a:rPr>
              <a:t>TRACK 1</a:t>
            </a:r>
            <a:endParaRPr lang="en-US" sz="1000" dirty="0"/>
          </a:p>
        </p:txBody>
      </p:sp>
      <p:sp>
        <p:nvSpPr>
          <p:cNvPr id="12" name="Text 10"/>
          <p:cNvSpPr/>
          <p:nvPr/>
        </p:nvSpPr>
        <p:spPr>
          <a:xfrm>
            <a:off x="2103120" y="2578608"/>
            <a:ext cx="384048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Price Discovery</a:t>
            </a:r>
            <a:endParaRPr lang="en-US" sz="1800" dirty="0"/>
          </a:p>
        </p:txBody>
      </p:sp>
      <p:sp>
        <p:nvSpPr>
          <p:cNvPr id="13" name="Text 11"/>
          <p:cNvSpPr/>
          <p:nvPr/>
        </p:nvSpPr>
        <p:spPr>
          <a:xfrm>
            <a:off x="2103120" y="3035808"/>
            <a:ext cx="3840480" cy="274320"/>
          </a:xfrm>
          <a:prstGeom prst="rect">
            <a:avLst/>
          </a:prstGeom>
          <a:noFill/>
          <a:ln/>
        </p:spPr>
        <p:txBody>
          <a:bodyPr wrap="square" lIns="0" tIns="0" rIns="0" bIns="0" rtlCol="0" anchor="ctr"/>
          <a:lstStyle/>
          <a:p>
            <a:pPr indent="0" marL="0">
              <a:buNone/>
            </a:pPr>
            <a:r>
              <a:rPr lang="en-US" sz="1100" i="1" dirty="0">
                <a:solidFill>
                  <a:srgbClr val="475569"/>
                </a:solidFill>
              </a:rPr>
              <a:t>no prior · cross-asset</a:t>
            </a:r>
            <a:endParaRPr lang="en-US" sz="1100" dirty="0"/>
          </a:p>
        </p:txBody>
      </p:sp>
      <p:sp>
        <p:nvSpPr>
          <p:cNvPr id="14" name="Text 12"/>
          <p:cNvSpPr/>
          <p:nvPr/>
        </p:nvSpPr>
        <p:spPr>
          <a:xfrm>
            <a:off x="2103120" y="3337560"/>
            <a:ext cx="3840480" cy="594360"/>
          </a:xfrm>
          <a:prstGeom prst="rect">
            <a:avLst/>
          </a:prstGeom>
          <a:noFill/>
          <a:ln/>
        </p:spPr>
        <p:txBody>
          <a:bodyPr wrap="square" lIns="0" tIns="0" rIns="0" bIns="0" rtlCol="0" anchor="ctr"/>
          <a:lstStyle/>
          <a:p>
            <a:pPr indent="0" marL="0">
              <a:buNone/>
            </a:pPr>
            <a:r>
              <a:rPr lang="en-US" sz="1100" dirty="0">
                <a:solidFill>
                  <a:srgbClr val="0F172A"/>
                </a:solidFill>
              </a:rPr>
              <a:t>Single agent mines all commodity prices + costs for patterns. Fully unbiased.</a:t>
            </a:r>
            <a:endParaRPr lang="en-US" sz="1100" dirty="0"/>
          </a:p>
        </p:txBody>
      </p:sp>
      <p:sp>
        <p:nvSpPr>
          <p:cNvPr id="15" name="Shape 13"/>
          <p:cNvSpPr/>
          <p:nvPr/>
        </p:nvSpPr>
        <p:spPr>
          <a:xfrm>
            <a:off x="6172200" y="2194560"/>
            <a:ext cx="4206240" cy="1783080"/>
          </a:xfrm>
          <a:prstGeom prst="rect">
            <a:avLst/>
          </a:prstGeom>
          <a:solidFill>
            <a:srgbClr val="F4F6FA"/>
          </a:solidFill>
          <a:ln w="12700">
            <a:solidFill>
              <a:srgbClr val="E2E8F0"/>
            </a:solidFill>
            <a:prstDash val="solid"/>
          </a:ln>
        </p:spPr>
      </p:sp>
      <p:sp>
        <p:nvSpPr>
          <p:cNvPr id="16" name="Shape 14"/>
          <p:cNvSpPr/>
          <p:nvPr/>
        </p:nvSpPr>
        <p:spPr>
          <a:xfrm>
            <a:off x="6172200" y="2194560"/>
            <a:ext cx="91440" cy="1783080"/>
          </a:xfrm>
          <a:prstGeom prst="rect">
            <a:avLst/>
          </a:prstGeom>
          <a:solidFill>
            <a:srgbClr val="10B981"/>
          </a:solidFill>
          <a:ln w="12700">
            <a:solidFill>
              <a:srgbClr val="333333"/>
            </a:solidFill>
            <a:prstDash val="solid"/>
          </a:ln>
        </p:spPr>
      </p:sp>
      <p:sp>
        <p:nvSpPr>
          <p:cNvPr id="17" name="Text 15"/>
          <p:cNvSpPr/>
          <p:nvPr/>
        </p:nvSpPr>
        <p:spPr>
          <a:xfrm>
            <a:off x="6446520" y="2331720"/>
            <a:ext cx="1371600" cy="274320"/>
          </a:xfrm>
          <a:prstGeom prst="rect">
            <a:avLst/>
          </a:prstGeom>
          <a:noFill/>
          <a:ln/>
        </p:spPr>
        <p:txBody>
          <a:bodyPr wrap="square" lIns="0" tIns="0" rIns="0" bIns="0" rtlCol="0" anchor="ctr"/>
          <a:lstStyle/>
          <a:p>
            <a:pPr indent="0" marL="0">
              <a:buNone/>
            </a:pPr>
            <a:r>
              <a:rPr lang="en-US" sz="1000" b="1" spc="300" kern="0" dirty="0">
                <a:solidFill>
                  <a:srgbClr val="10B981"/>
                </a:solidFill>
              </a:rPr>
              <a:t>TRACK 4</a:t>
            </a:r>
            <a:endParaRPr lang="en-US" sz="1000" dirty="0"/>
          </a:p>
        </p:txBody>
      </p:sp>
      <p:sp>
        <p:nvSpPr>
          <p:cNvPr id="18" name="Text 16"/>
          <p:cNvSpPr/>
          <p:nvPr/>
        </p:nvSpPr>
        <p:spPr>
          <a:xfrm>
            <a:off x="6446520" y="2578608"/>
            <a:ext cx="384048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Strategy Archetypes</a:t>
            </a:r>
            <a:endParaRPr lang="en-US" sz="1800" dirty="0"/>
          </a:p>
        </p:txBody>
      </p:sp>
      <p:sp>
        <p:nvSpPr>
          <p:cNvPr id="19" name="Text 17"/>
          <p:cNvSpPr/>
          <p:nvPr/>
        </p:nvSpPr>
        <p:spPr>
          <a:xfrm>
            <a:off x="6446520" y="3035808"/>
            <a:ext cx="3840480" cy="274320"/>
          </a:xfrm>
          <a:prstGeom prst="rect">
            <a:avLst/>
          </a:prstGeom>
          <a:noFill/>
          <a:ln/>
        </p:spPr>
        <p:txBody>
          <a:bodyPr wrap="square" lIns="0" tIns="0" rIns="0" bIns="0" rtlCol="0" anchor="ctr"/>
          <a:lstStyle/>
          <a:p>
            <a:pPr indent="0" marL="0">
              <a:buNone/>
            </a:pPr>
            <a:r>
              <a:rPr lang="en-US" sz="1100" i="1" dirty="0">
                <a:solidFill>
                  <a:srgbClr val="475569"/>
                </a:solidFill>
              </a:rPr>
              <a:t>no prior · style-specialized</a:t>
            </a:r>
            <a:endParaRPr lang="en-US" sz="1100" dirty="0"/>
          </a:p>
        </p:txBody>
      </p:sp>
      <p:sp>
        <p:nvSpPr>
          <p:cNvPr id="20" name="Text 18"/>
          <p:cNvSpPr/>
          <p:nvPr/>
        </p:nvSpPr>
        <p:spPr>
          <a:xfrm>
            <a:off x="6446520" y="3337560"/>
            <a:ext cx="3840480" cy="594360"/>
          </a:xfrm>
          <a:prstGeom prst="rect">
            <a:avLst/>
          </a:prstGeom>
          <a:noFill/>
          <a:ln/>
        </p:spPr>
        <p:txBody>
          <a:bodyPr wrap="square" lIns="0" tIns="0" rIns="0" bIns="0" rtlCol="0" anchor="ctr"/>
          <a:lstStyle/>
          <a:p>
            <a:pPr indent="0" marL="0">
              <a:buNone/>
            </a:pPr>
            <a:r>
              <a:rPr lang="en-US" sz="1100" dirty="0">
                <a:solidFill>
                  <a:srgbClr val="0F172A"/>
                </a:solidFill>
              </a:rPr>
              <a:t>8 agents, each constrained to one style: trend, mean-rev, seasonality, carry…</a:t>
            </a:r>
            <a:endParaRPr lang="en-US" sz="1100" dirty="0"/>
          </a:p>
        </p:txBody>
      </p:sp>
      <p:sp>
        <p:nvSpPr>
          <p:cNvPr id="21" name="Shape 19"/>
          <p:cNvSpPr/>
          <p:nvPr/>
        </p:nvSpPr>
        <p:spPr>
          <a:xfrm>
            <a:off x="1828800" y="4114800"/>
            <a:ext cx="4206240" cy="1783080"/>
          </a:xfrm>
          <a:prstGeom prst="rect">
            <a:avLst/>
          </a:prstGeom>
          <a:solidFill>
            <a:srgbClr val="F4F6FA"/>
          </a:solidFill>
          <a:ln w="12700">
            <a:solidFill>
              <a:srgbClr val="E2E8F0"/>
            </a:solidFill>
            <a:prstDash val="solid"/>
          </a:ln>
        </p:spPr>
      </p:sp>
      <p:sp>
        <p:nvSpPr>
          <p:cNvPr id="22" name="Shape 20"/>
          <p:cNvSpPr/>
          <p:nvPr/>
        </p:nvSpPr>
        <p:spPr>
          <a:xfrm>
            <a:off x="1828800" y="4114800"/>
            <a:ext cx="91440" cy="1783080"/>
          </a:xfrm>
          <a:prstGeom prst="rect">
            <a:avLst/>
          </a:prstGeom>
          <a:solidFill>
            <a:srgbClr val="8B5CF6"/>
          </a:solidFill>
          <a:ln w="12700">
            <a:solidFill>
              <a:srgbClr val="333333"/>
            </a:solidFill>
            <a:prstDash val="solid"/>
          </a:ln>
        </p:spPr>
      </p:sp>
      <p:sp>
        <p:nvSpPr>
          <p:cNvPr id="23" name="Text 21"/>
          <p:cNvSpPr/>
          <p:nvPr/>
        </p:nvSpPr>
        <p:spPr>
          <a:xfrm>
            <a:off x="2103120" y="4251960"/>
            <a:ext cx="1371600" cy="274320"/>
          </a:xfrm>
          <a:prstGeom prst="rect">
            <a:avLst/>
          </a:prstGeom>
          <a:noFill/>
          <a:ln/>
        </p:spPr>
        <p:txBody>
          <a:bodyPr wrap="square" lIns="0" tIns="0" rIns="0" bIns="0" rtlCol="0" anchor="ctr"/>
          <a:lstStyle/>
          <a:p>
            <a:pPr indent="0" marL="0">
              <a:buNone/>
            </a:pPr>
            <a:r>
              <a:rPr lang="en-US" sz="1000" b="1" spc="300" kern="0" dirty="0">
                <a:solidFill>
                  <a:srgbClr val="8B5CF6"/>
                </a:solidFill>
              </a:rPr>
              <a:t>TRACK 2</a:t>
            </a:r>
            <a:endParaRPr lang="en-US" sz="1000" dirty="0"/>
          </a:p>
        </p:txBody>
      </p:sp>
      <p:sp>
        <p:nvSpPr>
          <p:cNvPr id="24" name="Text 22"/>
          <p:cNvSpPr/>
          <p:nvPr/>
        </p:nvSpPr>
        <p:spPr>
          <a:xfrm>
            <a:off x="2103120" y="4498848"/>
            <a:ext cx="384048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Paper-Induced</a:t>
            </a:r>
            <a:endParaRPr lang="en-US" sz="1800" dirty="0"/>
          </a:p>
        </p:txBody>
      </p:sp>
      <p:sp>
        <p:nvSpPr>
          <p:cNvPr id="25" name="Text 23"/>
          <p:cNvSpPr/>
          <p:nvPr/>
        </p:nvSpPr>
        <p:spPr>
          <a:xfrm>
            <a:off x="2103120" y="4956048"/>
            <a:ext cx="3840480" cy="274320"/>
          </a:xfrm>
          <a:prstGeom prst="rect">
            <a:avLst/>
          </a:prstGeom>
          <a:noFill/>
          <a:ln/>
        </p:spPr>
        <p:txBody>
          <a:bodyPr wrap="square" lIns="0" tIns="0" rIns="0" bIns="0" rtlCol="0" anchor="ctr"/>
          <a:lstStyle/>
          <a:p>
            <a:pPr indent="0" marL="0">
              <a:buNone/>
            </a:pPr>
            <a:r>
              <a:rPr lang="en-US" sz="1100" i="1" dirty="0">
                <a:solidFill>
                  <a:srgbClr val="475569"/>
                </a:solidFill>
              </a:rPr>
              <a:t>with prior · cross-asset</a:t>
            </a:r>
            <a:endParaRPr lang="en-US" sz="1100" dirty="0"/>
          </a:p>
        </p:txBody>
      </p:sp>
      <p:sp>
        <p:nvSpPr>
          <p:cNvPr id="26" name="Text 24"/>
          <p:cNvSpPr/>
          <p:nvPr/>
        </p:nvSpPr>
        <p:spPr>
          <a:xfrm>
            <a:off x="2103120" y="5257800"/>
            <a:ext cx="3840480" cy="594360"/>
          </a:xfrm>
          <a:prstGeom prst="rect">
            <a:avLst/>
          </a:prstGeom>
          <a:noFill/>
          <a:ln/>
        </p:spPr>
        <p:txBody>
          <a:bodyPr wrap="square" lIns="0" tIns="0" rIns="0" bIns="0" rtlCol="0" anchor="ctr"/>
          <a:lstStyle/>
          <a:p>
            <a:pPr indent="0" marL="0">
              <a:buNone/>
            </a:pPr>
            <a:r>
              <a:rPr lang="en-US" sz="1100" dirty="0">
                <a:solidFill>
                  <a:srgbClr val="0F172A"/>
                </a:solidFill>
              </a:rPr>
              <a:t>~100 papers → hypotheses → agent implements &amp; backtests each one.</a:t>
            </a:r>
            <a:endParaRPr lang="en-US" sz="1100" dirty="0"/>
          </a:p>
        </p:txBody>
      </p:sp>
      <p:sp>
        <p:nvSpPr>
          <p:cNvPr id="27" name="Shape 25"/>
          <p:cNvSpPr/>
          <p:nvPr/>
        </p:nvSpPr>
        <p:spPr>
          <a:xfrm>
            <a:off x="6172200" y="4114800"/>
            <a:ext cx="4206240" cy="1783080"/>
          </a:xfrm>
          <a:prstGeom prst="rect">
            <a:avLst/>
          </a:prstGeom>
          <a:solidFill>
            <a:srgbClr val="F4F6FA"/>
          </a:solidFill>
          <a:ln w="12700">
            <a:solidFill>
              <a:srgbClr val="E2E8F0"/>
            </a:solidFill>
            <a:prstDash val="solid"/>
          </a:ln>
        </p:spPr>
      </p:sp>
      <p:sp>
        <p:nvSpPr>
          <p:cNvPr id="28" name="Shape 26"/>
          <p:cNvSpPr/>
          <p:nvPr/>
        </p:nvSpPr>
        <p:spPr>
          <a:xfrm>
            <a:off x="6172200" y="4114800"/>
            <a:ext cx="91440" cy="1783080"/>
          </a:xfrm>
          <a:prstGeom prst="rect">
            <a:avLst/>
          </a:prstGeom>
          <a:solidFill>
            <a:srgbClr val="F59E0B"/>
          </a:solidFill>
          <a:ln w="12700">
            <a:solidFill>
              <a:srgbClr val="333333"/>
            </a:solidFill>
            <a:prstDash val="solid"/>
          </a:ln>
        </p:spPr>
      </p:sp>
      <p:sp>
        <p:nvSpPr>
          <p:cNvPr id="29" name="Text 27"/>
          <p:cNvSpPr/>
          <p:nvPr/>
        </p:nvSpPr>
        <p:spPr>
          <a:xfrm>
            <a:off x="6446520" y="4251960"/>
            <a:ext cx="1371600" cy="274320"/>
          </a:xfrm>
          <a:prstGeom prst="rect">
            <a:avLst/>
          </a:prstGeom>
          <a:noFill/>
          <a:ln/>
        </p:spPr>
        <p:txBody>
          <a:bodyPr wrap="square" lIns="0" tIns="0" rIns="0" bIns="0" rtlCol="0" anchor="ctr"/>
          <a:lstStyle/>
          <a:p>
            <a:pPr indent="0" marL="0">
              <a:buNone/>
            </a:pPr>
            <a:r>
              <a:rPr lang="en-US" sz="1000" b="1" spc="300" kern="0" dirty="0">
                <a:solidFill>
                  <a:srgbClr val="F59E0B"/>
                </a:solidFill>
              </a:rPr>
              <a:t>TRACK 3</a:t>
            </a:r>
            <a:endParaRPr lang="en-US" sz="1000" dirty="0"/>
          </a:p>
        </p:txBody>
      </p:sp>
      <p:sp>
        <p:nvSpPr>
          <p:cNvPr id="30" name="Text 28"/>
          <p:cNvSpPr/>
          <p:nvPr/>
        </p:nvSpPr>
        <p:spPr>
          <a:xfrm>
            <a:off x="6446520" y="4498848"/>
            <a:ext cx="3840480" cy="41148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Commodity Experts</a:t>
            </a:r>
            <a:endParaRPr lang="en-US" sz="1800" dirty="0"/>
          </a:p>
        </p:txBody>
      </p:sp>
      <p:sp>
        <p:nvSpPr>
          <p:cNvPr id="31" name="Text 29"/>
          <p:cNvSpPr/>
          <p:nvPr/>
        </p:nvSpPr>
        <p:spPr>
          <a:xfrm>
            <a:off x="6446520" y="4956048"/>
            <a:ext cx="3840480" cy="274320"/>
          </a:xfrm>
          <a:prstGeom prst="rect">
            <a:avLst/>
          </a:prstGeom>
          <a:noFill/>
          <a:ln/>
        </p:spPr>
        <p:txBody>
          <a:bodyPr wrap="square" lIns="0" tIns="0" rIns="0" bIns="0" rtlCol="0" anchor="ctr"/>
          <a:lstStyle/>
          <a:p>
            <a:pPr indent="0" marL="0">
              <a:buNone/>
            </a:pPr>
            <a:r>
              <a:rPr lang="en-US" sz="1100" i="1" dirty="0">
                <a:solidFill>
                  <a:srgbClr val="475569"/>
                </a:solidFill>
              </a:rPr>
              <a:t>with prior · asset-specialized</a:t>
            </a:r>
            <a:endParaRPr lang="en-US" sz="1100" dirty="0"/>
          </a:p>
        </p:txBody>
      </p:sp>
      <p:sp>
        <p:nvSpPr>
          <p:cNvPr id="32" name="Text 30"/>
          <p:cNvSpPr/>
          <p:nvPr/>
        </p:nvSpPr>
        <p:spPr>
          <a:xfrm>
            <a:off x="6446520" y="5257800"/>
            <a:ext cx="3840480" cy="594360"/>
          </a:xfrm>
          <a:prstGeom prst="rect">
            <a:avLst/>
          </a:prstGeom>
          <a:noFill/>
          <a:ln/>
        </p:spPr>
        <p:txBody>
          <a:bodyPr wrap="square" lIns="0" tIns="0" rIns="0" bIns="0" rtlCol="0" anchor="ctr"/>
          <a:lstStyle/>
          <a:p>
            <a:pPr indent="0" marL="0">
              <a:buNone/>
            </a:pPr>
            <a:r>
              <a:rPr lang="en-US" sz="1100" dirty="0">
                <a:solidFill>
                  <a:srgbClr val="0F172A"/>
                </a:solidFill>
              </a:rPr>
              <a:t>Oil / Gas / Ags / Metals agents pull fundamentals, weather, CFTC, alt data.</a:t>
            </a:r>
            <a:endParaRPr lang="en-US" sz="1100" dirty="0"/>
          </a:p>
        </p:txBody>
      </p:sp>
      <p:sp>
        <p:nvSpPr>
          <p:cNvPr id="33" name="Text 31"/>
          <p:cNvSpPr/>
          <p:nvPr/>
        </p:nvSpPr>
        <p:spPr>
          <a:xfrm>
            <a:off x="11430000" y="6446520"/>
            <a:ext cx="640080" cy="274320"/>
          </a:xfrm>
          <a:prstGeom prst="rect">
            <a:avLst/>
          </a:prstGeom>
          <a:noFill/>
          <a:ln/>
        </p:spPr>
        <p:txBody>
          <a:bodyPr wrap="square" lIns="0" tIns="0" rIns="0" bIns="0" rtlCol="0" anchor="ctr"/>
          <a:lstStyle/>
          <a:p>
            <a:pPr algn="r" indent="0" marL="0">
              <a:buNone/>
            </a:pPr>
            <a:r>
              <a:rPr lang="en-US" sz="900" dirty="0">
                <a:solidFill>
                  <a:srgbClr val="475569"/>
                </a:solidFill>
              </a:rPr>
              <a:t>2 / 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b="1" spc="400" kern="0" dirty="0">
                <a:solidFill>
                  <a:srgbClr val="00C2A8"/>
                </a:solidFill>
                <a:latin typeface="Calibri" pitchFamily="34" charset="0"/>
                <a:ea typeface="Calibri" pitchFamily="34" charset="-122"/>
                <a:cs typeface="Calibri" pitchFamily="34" charset="-120"/>
              </a:rPr>
              <a:t>TRACK 1</a:t>
            </a:r>
            <a:endParaRPr lang="en-US" sz="1100" dirty="0"/>
          </a:p>
        </p:txBody>
      </p:sp>
      <p:sp>
        <p:nvSpPr>
          <p:cNvPr id="3" name="Text 1"/>
          <p:cNvSpPr/>
          <p:nvPr/>
        </p:nvSpPr>
        <p:spPr>
          <a:xfrm>
            <a:off x="548640" y="713232"/>
            <a:ext cx="11155680" cy="64008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Price Discovery Agent</a:t>
            </a:r>
            <a:endParaRPr lang="en-US" sz="2800" dirty="0"/>
          </a:p>
        </p:txBody>
      </p:sp>
      <p:sp>
        <p:nvSpPr>
          <p:cNvPr id="4" name="Text 2"/>
          <p:cNvSpPr/>
          <p:nvPr/>
        </p:nvSpPr>
        <p:spPr>
          <a:xfrm>
            <a:off x="548640" y="1280160"/>
            <a:ext cx="10058400" cy="320040"/>
          </a:xfrm>
          <a:prstGeom prst="rect">
            <a:avLst/>
          </a:prstGeom>
          <a:noFill/>
          <a:ln/>
        </p:spPr>
        <p:txBody>
          <a:bodyPr wrap="square" lIns="0" tIns="0" rIns="0" bIns="0" rtlCol="0" anchor="t"/>
          <a:lstStyle/>
          <a:p>
            <a:pPr indent="0" marL="0">
              <a:buNone/>
            </a:pPr>
            <a:r>
              <a:rPr lang="en-US" sz="1400" i="1" dirty="0">
                <a:solidFill>
                  <a:srgbClr val="475569"/>
                </a:solidFill>
              </a:rPr>
              <a:t>Single agent, full commodity universe, pure pattern mining</a:t>
            </a:r>
            <a:endParaRPr lang="en-US" sz="1400" dirty="0"/>
          </a:p>
        </p:txBody>
      </p:sp>
      <p:pic>
        <p:nvPicPr>
          <p:cNvPr id="5" name="Image 0" descr="preencoded.png">    </p:cNvPr>
          <p:cNvPicPr>
            <a:picLocks noChangeAspect="1"/>
          </p:cNvPicPr>
          <p:nvPr/>
        </p:nvPicPr>
        <p:blipFill>
          <a:blip r:embed="rId1"/>
          <a:stretch>
            <a:fillRect/>
          </a:stretch>
        </p:blipFill>
        <p:spPr>
          <a:xfrm>
            <a:off x="10835640" y="457200"/>
            <a:ext cx="868680" cy="868680"/>
          </a:xfrm>
          <a:prstGeom prst="rect">
            <a:avLst/>
          </a:prstGeom>
        </p:spPr>
      </p:pic>
      <p:sp>
        <p:nvSpPr>
          <p:cNvPr id="6" name="Shape 3"/>
          <p:cNvSpPr/>
          <p:nvPr/>
        </p:nvSpPr>
        <p:spPr>
          <a:xfrm>
            <a:off x="548640" y="1783080"/>
            <a:ext cx="5486400" cy="4434840"/>
          </a:xfrm>
          <a:prstGeom prst="rect">
            <a:avLst/>
          </a:prstGeom>
          <a:solidFill>
            <a:srgbClr val="F4F6FA"/>
          </a:solidFill>
          <a:ln w="12700">
            <a:solidFill>
              <a:srgbClr val="E2E8F0"/>
            </a:solidFill>
            <a:prstDash val="solid"/>
          </a:ln>
        </p:spPr>
      </p:sp>
      <p:sp>
        <p:nvSpPr>
          <p:cNvPr id="7" name="Shape 4"/>
          <p:cNvSpPr/>
          <p:nvPr/>
        </p:nvSpPr>
        <p:spPr>
          <a:xfrm>
            <a:off x="548640" y="1783080"/>
            <a:ext cx="73152" cy="4434840"/>
          </a:xfrm>
          <a:prstGeom prst="rect">
            <a:avLst/>
          </a:prstGeom>
          <a:solidFill>
            <a:srgbClr val="0EA5E9"/>
          </a:solidFill>
          <a:ln w="12700">
            <a:solidFill>
              <a:srgbClr val="333333"/>
            </a:solidFill>
            <a:prstDash val="solid"/>
          </a:ln>
        </p:spPr>
      </p:sp>
      <p:sp>
        <p:nvSpPr>
          <p:cNvPr id="8" name="Text 5"/>
          <p:cNvSpPr/>
          <p:nvPr/>
        </p:nvSpPr>
        <p:spPr>
          <a:xfrm>
            <a:off x="822960" y="1965960"/>
            <a:ext cx="5120640" cy="274320"/>
          </a:xfrm>
          <a:prstGeom prst="rect">
            <a:avLst/>
          </a:prstGeom>
          <a:noFill/>
          <a:ln/>
        </p:spPr>
        <p:txBody>
          <a:bodyPr wrap="square" lIns="0" tIns="0" rIns="0" bIns="0" rtlCol="0" anchor="t"/>
          <a:lstStyle/>
          <a:p>
            <a:pPr indent="0" marL="0">
              <a:buNone/>
            </a:pPr>
            <a:r>
              <a:rPr lang="en-US" sz="1050" b="1" spc="300" kern="0" dirty="0">
                <a:solidFill>
                  <a:srgbClr val="0EA5E9"/>
                </a:solidFill>
              </a:rPr>
              <a:t>HOW IT WORKS</a:t>
            </a:r>
            <a:endParaRPr lang="en-US" sz="1050" dirty="0"/>
          </a:p>
        </p:txBody>
      </p:sp>
      <p:sp>
        <p:nvSpPr>
          <p:cNvPr id="9" name="Text 6"/>
          <p:cNvSpPr/>
          <p:nvPr/>
        </p:nvSpPr>
        <p:spPr>
          <a:xfrm>
            <a:off x="822960" y="2331720"/>
            <a:ext cx="5120640" cy="274320"/>
          </a:xfrm>
          <a:prstGeom prst="rect">
            <a:avLst/>
          </a:prstGeom>
          <a:noFill/>
          <a:ln/>
        </p:spPr>
        <p:txBody>
          <a:bodyPr wrap="square" lIns="0" tIns="0" rIns="0" bIns="0" rtlCol="0" anchor="t"/>
          <a:lstStyle/>
          <a:p>
            <a:pPr indent="0" marL="0">
              <a:buNone/>
            </a:pPr>
            <a:r>
              <a:rPr lang="en-US" sz="1300" b="1" dirty="0">
                <a:solidFill>
                  <a:srgbClr val="0F172A"/>
                </a:solidFill>
              </a:rPr>
              <a:t>Inputs</a:t>
            </a:r>
            <a:endParaRPr lang="en-US" sz="1300" dirty="0"/>
          </a:p>
        </p:txBody>
      </p:sp>
      <p:sp>
        <p:nvSpPr>
          <p:cNvPr id="10" name="Text 7"/>
          <p:cNvSpPr/>
          <p:nvPr/>
        </p:nvSpPr>
        <p:spPr>
          <a:xfrm>
            <a:off x="822960" y="2651760"/>
            <a:ext cx="5120640" cy="1280160"/>
          </a:xfrm>
          <a:prstGeom prst="rect">
            <a:avLst/>
          </a:prstGeom>
          <a:noFill/>
          <a:ln/>
        </p:spPr>
        <p:txBody>
          <a:bodyPr wrap="square" rtlCol="0" anchor="t"/>
          <a:lstStyle/>
          <a:p>
            <a:pPr marL="342900" indent="-342900">
              <a:spcAft>
                <a:spcPts val="400"/>
              </a:spcAft>
              <a:buSzPct val="100000"/>
              <a:buChar char="•"/>
            </a:pPr>
            <a:r>
              <a:rPr lang="en-US" sz="1200" dirty="0">
                <a:solidFill>
                  <a:srgbClr val="0F172A"/>
                </a:solidFill>
              </a:rPr>
              <a:t>All commodity price series (futures, spot, term-structure)</a:t>
            </a:r>
            <a:endParaRPr lang="en-US" sz="1200" dirty="0"/>
          </a:p>
          <a:p>
            <a:pPr marL="342900" indent="-342900">
              <a:spcAft>
                <a:spcPts val="400"/>
              </a:spcAft>
              <a:buSzPct val="100000"/>
              <a:buChar char="•"/>
            </a:pPr>
            <a:r>
              <a:rPr lang="en-US" sz="1200" dirty="0">
                <a:solidFill>
                  <a:srgbClr val="0F172A"/>
                </a:solidFill>
              </a:rPr>
              <a:t>Tradeable cost estimates (slippage, financing, exchange fees)</a:t>
            </a:r>
            <a:endParaRPr lang="en-US" sz="1200" dirty="0"/>
          </a:p>
          <a:p>
            <a:pPr marL="342900" indent="-342900">
              <a:spcAft>
                <a:spcPts val="400"/>
              </a:spcAft>
              <a:buSzPct val="100000"/>
              <a:buChar char="•"/>
            </a:pPr>
            <a:r>
              <a:rPr lang="en-US" sz="1200" dirty="0">
                <a:solidFill>
                  <a:srgbClr val="0F172A"/>
                </a:solidFill>
              </a:rPr>
              <a:t>No fundamentals, no priors, no labels</a:t>
            </a:r>
            <a:endParaRPr lang="en-US" sz="1200" dirty="0"/>
          </a:p>
        </p:txBody>
      </p:sp>
      <p:sp>
        <p:nvSpPr>
          <p:cNvPr id="11" name="Text 8"/>
          <p:cNvSpPr/>
          <p:nvPr/>
        </p:nvSpPr>
        <p:spPr>
          <a:xfrm>
            <a:off x="822960" y="3977640"/>
            <a:ext cx="5120640" cy="274320"/>
          </a:xfrm>
          <a:prstGeom prst="rect">
            <a:avLst/>
          </a:prstGeom>
          <a:noFill/>
          <a:ln/>
        </p:spPr>
        <p:txBody>
          <a:bodyPr wrap="square" lIns="0" tIns="0" rIns="0" bIns="0" rtlCol="0" anchor="t"/>
          <a:lstStyle/>
          <a:p>
            <a:pPr indent="0" marL="0">
              <a:buNone/>
            </a:pPr>
            <a:r>
              <a:rPr lang="en-US" sz="1300" b="1" dirty="0">
                <a:solidFill>
                  <a:srgbClr val="0F172A"/>
                </a:solidFill>
              </a:rPr>
              <a:t>Mechanism</a:t>
            </a:r>
            <a:endParaRPr lang="en-US" sz="1300" dirty="0"/>
          </a:p>
        </p:txBody>
      </p:sp>
      <p:sp>
        <p:nvSpPr>
          <p:cNvPr id="12" name="Text 9"/>
          <p:cNvSpPr/>
          <p:nvPr/>
        </p:nvSpPr>
        <p:spPr>
          <a:xfrm>
            <a:off x="822960" y="4297680"/>
            <a:ext cx="5120640" cy="1828800"/>
          </a:xfrm>
          <a:prstGeom prst="rect">
            <a:avLst/>
          </a:prstGeom>
          <a:noFill/>
          <a:ln/>
        </p:spPr>
        <p:txBody>
          <a:bodyPr wrap="square" lIns="0" tIns="0" rIns="0" bIns="0" rtlCol="0" anchor="t"/>
          <a:lstStyle/>
          <a:p>
            <a:pPr indent="0" marL="0">
              <a:buNone/>
            </a:pPr>
            <a:r>
              <a:rPr lang="en-US" sz="1200" dirty="0">
                <a:solidFill>
                  <a:srgbClr val="0F172A"/>
                </a:solidFill>
              </a:rPr>
              <a:t>One agent searches the full cross-section continuously. Proposes signals (cross-asset momentum, dispersion, lead-lag, term-structure) and hands each candidate to the Critic Agent for OOS validation. Bottom-up, data-driven, runs 24/7.</a:t>
            </a:r>
            <a:endParaRPr lang="en-US" sz="1200" dirty="0"/>
          </a:p>
        </p:txBody>
      </p:sp>
      <p:sp>
        <p:nvSpPr>
          <p:cNvPr id="13" name="Shape 10"/>
          <p:cNvSpPr/>
          <p:nvPr/>
        </p:nvSpPr>
        <p:spPr>
          <a:xfrm>
            <a:off x="6400800" y="1783080"/>
            <a:ext cx="5212080" cy="214884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pic>
        <p:nvPicPr>
          <p:cNvPr id="14" name="Image 1" descr="preencoded.png">    </p:cNvPr>
          <p:cNvPicPr>
            <a:picLocks noChangeAspect="1"/>
          </p:cNvPicPr>
          <p:nvPr/>
        </p:nvPicPr>
        <p:blipFill>
          <a:blip r:embed="rId2"/>
          <a:stretch>
            <a:fillRect/>
          </a:stretch>
        </p:blipFill>
        <p:spPr>
          <a:xfrm>
            <a:off x="6629400" y="1947672"/>
            <a:ext cx="274320" cy="274320"/>
          </a:xfrm>
          <a:prstGeom prst="rect">
            <a:avLst/>
          </a:prstGeom>
        </p:spPr>
      </p:pic>
      <p:sp>
        <p:nvSpPr>
          <p:cNvPr id="15" name="Text 11"/>
          <p:cNvSpPr/>
          <p:nvPr/>
        </p:nvSpPr>
        <p:spPr>
          <a:xfrm>
            <a:off x="6995160" y="1920240"/>
            <a:ext cx="1828800" cy="320040"/>
          </a:xfrm>
          <a:prstGeom prst="rect">
            <a:avLst/>
          </a:prstGeom>
          <a:noFill/>
          <a:ln/>
        </p:spPr>
        <p:txBody>
          <a:bodyPr wrap="square" lIns="0" tIns="0" rIns="0" bIns="0" rtlCol="0" anchor="ctr"/>
          <a:lstStyle/>
          <a:p>
            <a:pPr indent="0" marL="0">
              <a:buNone/>
            </a:pPr>
            <a:r>
              <a:rPr lang="en-US" sz="1100" b="1" spc="300" kern="0" dirty="0">
                <a:solidFill>
                  <a:srgbClr val="059669"/>
                </a:solidFill>
              </a:rPr>
              <a:t>PROS</a:t>
            </a:r>
            <a:endParaRPr lang="en-US" sz="1100" dirty="0"/>
          </a:p>
        </p:txBody>
      </p:sp>
      <p:sp>
        <p:nvSpPr>
          <p:cNvPr id="16" name="Text 12"/>
          <p:cNvSpPr/>
          <p:nvPr/>
        </p:nvSpPr>
        <p:spPr>
          <a:xfrm>
            <a:off x="6629400" y="2331720"/>
            <a:ext cx="4754880" cy="1554480"/>
          </a:xfrm>
          <a:prstGeom prst="rect">
            <a:avLst/>
          </a:prstGeom>
          <a:noFill/>
          <a:ln/>
        </p:spPr>
        <p:txBody>
          <a:bodyPr wrap="square" rtlCol="0" anchor="t"/>
          <a:lstStyle/>
          <a:p>
            <a:pPr marL="342900" indent="-342900">
              <a:spcAft>
                <a:spcPts val="500"/>
              </a:spcAft>
              <a:buSzPct val="100000"/>
              <a:buChar char="•"/>
            </a:pPr>
            <a:r>
              <a:rPr lang="en-US" sz="1200" dirty="0">
                <a:solidFill>
                  <a:srgbClr val="0F172A"/>
                </a:solidFill>
              </a:rPr>
              <a:t>Cheapest to scale — minimal data infra</a:t>
            </a:r>
            <a:endParaRPr lang="en-US" sz="1200" dirty="0"/>
          </a:p>
          <a:p>
            <a:pPr marL="342900" indent="-342900">
              <a:spcAft>
                <a:spcPts val="500"/>
              </a:spcAft>
              <a:buSzPct val="100000"/>
              <a:buChar char="•"/>
            </a:pPr>
            <a:r>
              <a:rPr lang="en-US" sz="1200" dirty="0">
                <a:solidFill>
                  <a:srgbClr val="0F172A"/>
                </a:solidFill>
              </a:rPr>
              <a:t>Unbiased: may surface signals literature has missed</a:t>
            </a:r>
            <a:endParaRPr lang="en-US" sz="1200" dirty="0"/>
          </a:p>
          <a:p>
            <a:pPr marL="342900" indent="-342900">
              <a:spcAft>
                <a:spcPts val="500"/>
              </a:spcAft>
              <a:buSzPct val="100000"/>
              <a:buChar char="•"/>
            </a:pPr>
            <a:r>
              <a:rPr lang="en-US" sz="1200" dirty="0">
                <a:solidFill>
                  <a:srgbClr val="0F172A"/>
                </a:solidFill>
              </a:rPr>
              <a:t>Naturally cross-asset — captures relations a specialist would miss</a:t>
            </a:r>
            <a:endParaRPr lang="en-US" sz="1200" dirty="0"/>
          </a:p>
        </p:txBody>
      </p:sp>
      <p:sp>
        <p:nvSpPr>
          <p:cNvPr id="17" name="Shape 13"/>
          <p:cNvSpPr/>
          <p:nvPr/>
        </p:nvSpPr>
        <p:spPr>
          <a:xfrm>
            <a:off x="6400800" y="4069080"/>
            <a:ext cx="5212080" cy="214884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pic>
        <p:nvPicPr>
          <p:cNvPr id="18" name="Image 2" descr="preencoded.png">    </p:cNvPr>
          <p:cNvPicPr>
            <a:picLocks noChangeAspect="1"/>
          </p:cNvPicPr>
          <p:nvPr/>
        </p:nvPicPr>
        <p:blipFill>
          <a:blip r:embed="rId3"/>
          <a:stretch>
            <a:fillRect/>
          </a:stretch>
        </p:blipFill>
        <p:spPr>
          <a:xfrm>
            <a:off x="6629400" y="4233672"/>
            <a:ext cx="274320" cy="274320"/>
          </a:xfrm>
          <a:prstGeom prst="rect">
            <a:avLst/>
          </a:prstGeom>
        </p:spPr>
      </p:pic>
      <p:sp>
        <p:nvSpPr>
          <p:cNvPr id="19" name="Text 14"/>
          <p:cNvSpPr/>
          <p:nvPr/>
        </p:nvSpPr>
        <p:spPr>
          <a:xfrm>
            <a:off x="6995160" y="4206240"/>
            <a:ext cx="2743200" cy="320040"/>
          </a:xfrm>
          <a:prstGeom prst="rect">
            <a:avLst/>
          </a:prstGeom>
          <a:noFill/>
          <a:ln/>
        </p:spPr>
        <p:txBody>
          <a:bodyPr wrap="square" lIns="0" tIns="0" rIns="0" bIns="0" rtlCol="0" anchor="ctr"/>
          <a:lstStyle/>
          <a:p>
            <a:pPr indent="0" marL="0">
              <a:buNone/>
            </a:pPr>
            <a:r>
              <a:rPr lang="en-US" sz="1100" b="1" spc="300" kern="0" dirty="0">
                <a:solidFill>
                  <a:srgbClr val="DC2626"/>
                </a:solidFill>
              </a:rPr>
              <a:t>CONS / RISKS</a:t>
            </a:r>
            <a:endParaRPr lang="en-US" sz="1100" dirty="0"/>
          </a:p>
        </p:txBody>
      </p:sp>
      <p:sp>
        <p:nvSpPr>
          <p:cNvPr id="20" name="Text 15"/>
          <p:cNvSpPr/>
          <p:nvPr/>
        </p:nvSpPr>
        <p:spPr>
          <a:xfrm>
            <a:off x="6629400" y="4617720"/>
            <a:ext cx="4754880" cy="1554480"/>
          </a:xfrm>
          <a:prstGeom prst="rect">
            <a:avLst/>
          </a:prstGeom>
          <a:noFill/>
          <a:ln/>
        </p:spPr>
        <p:txBody>
          <a:bodyPr wrap="square" rtlCol="0" anchor="t"/>
          <a:lstStyle/>
          <a:p>
            <a:pPr marL="342900" indent="-342900">
              <a:spcAft>
                <a:spcPts val="500"/>
              </a:spcAft>
              <a:buSzPct val="100000"/>
              <a:buChar char="•"/>
            </a:pPr>
            <a:r>
              <a:rPr lang="en-US" sz="1200" dirty="0">
                <a:solidFill>
                  <a:srgbClr val="0F172A"/>
                </a:solidFill>
              </a:rPr>
              <a:t>Highest overfitting / p-hacking risk</a:t>
            </a:r>
            <a:endParaRPr lang="en-US" sz="1200" dirty="0"/>
          </a:p>
          <a:p>
            <a:pPr marL="342900" indent="-342900">
              <a:spcAft>
                <a:spcPts val="500"/>
              </a:spcAft>
              <a:buSzPct val="100000"/>
              <a:buChar char="•"/>
            </a:pPr>
            <a:r>
              <a:rPr lang="en-US" sz="1200" dirty="0">
                <a:solidFill>
                  <a:srgbClr val="0F172A"/>
                </a:solidFill>
              </a:rPr>
              <a:t>Low signal-to-noise on price-only data</a:t>
            </a:r>
            <a:endParaRPr lang="en-US" sz="1200" dirty="0"/>
          </a:p>
          <a:p>
            <a:pPr marL="342900" indent="-342900">
              <a:spcAft>
                <a:spcPts val="500"/>
              </a:spcAft>
              <a:buSzPct val="100000"/>
              <a:buChar char="•"/>
            </a:pPr>
            <a:r>
              <a:rPr lang="en-US" sz="1200" dirty="0">
                <a:solidFill>
                  <a:srgbClr val="0F172A"/>
                </a:solidFill>
              </a:rPr>
              <a:t>Often re-derives known factors and labels them as novel</a:t>
            </a:r>
            <a:endParaRPr lang="en-US" sz="1200" dirty="0"/>
          </a:p>
          <a:p>
            <a:pPr marL="342900" indent="-342900">
              <a:spcAft>
                <a:spcPts val="500"/>
              </a:spcAft>
              <a:buSzPct val="100000"/>
              <a:buChar char="•"/>
            </a:pPr>
            <a:r>
              <a:rPr lang="en-US" sz="1200" dirty="0">
                <a:solidFill>
                  <a:srgbClr val="0F172A"/>
                </a:solidFill>
              </a:rPr>
              <a:t>Weak economic story → harder to defend to PMs</a:t>
            </a:r>
            <a:endParaRPr lang="en-US" sz="1200" dirty="0"/>
          </a:p>
        </p:txBody>
      </p:sp>
      <p:sp>
        <p:nvSpPr>
          <p:cNvPr id="21" name="Text 16"/>
          <p:cNvSpPr/>
          <p:nvPr/>
        </p:nvSpPr>
        <p:spPr>
          <a:xfrm>
            <a:off x="11430000" y="6446520"/>
            <a:ext cx="640080" cy="274320"/>
          </a:xfrm>
          <a:prstGeom prst="rect">
            <a:avLst/>
          </a:prstGeom>
          <a:noFill/>
          <a:ln/>
        </p:spPr>
        <p:txBody>
          <a:bodyPr wrap="square" lIns="0" tIns="0" rIns="0" bIns="0" rtlCol="0" anchor="ctr"/>
          <a:lstStyle/>
          <a:p>
            <a:pPr algn="r" indent="0" marL="0">
              <a:buNone/>
            </a:pPr>
            <a:r>
              <a:rPr lang="en-US" sz="900" dirty="0">
                <a:solidFill>
                  <a:srgbClr val="475569"/>
                </a:solidFill>
              </a:rPr>
              <a:t>3 / 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b="1" spc="400" kern="0" dirty="0">
                <a:solidFill>
                  <a:srgbClr val="00C2A8"/>
                </a:solidFill>
                <a:latin typeface="Calibri" pitchFamily="34" charset="0"/>
                <a:ea typeface="Calibri" pitchFamily="34" charset="-122"/>
                <a:cs typeface="Calibri" pitchFamily="34" charset="-120"/>
              </a:rPr>
              <a:t>TRACK 2</a:t>
            </a:r>
            <a:endParaRPr lang="en-US" sz="1100" dirty="0"/>
          </a:p>
        </p:txBody>
      </p:sp>
      <p:sp>
        <p:nvSpPr>
          <p:cNvPr id="3" name="Text 1"/>
          <p:cNvSpPr/>
          <p:nvPr/>
        </p:nvSpPr>
        <p:spPr>
          <a:xfrm>
            <a:off x="548640" y="713232"/>
            <a:ext cx="11155680" cy="64008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Paper-Induced Hypothesis Agent</a:t>
            </a:r>
            <a:endParaRPr lang="en-US" sz="2800" dirty="0"/>
          </a:p>
        </p:txBody>
      </p:sp>
      <p:sp>
        <p:nvSpPr>
          <p:cNvPr id="4" name="Text 2"/>
          <p:cNvSpPr/>
          <p:nvPr/>
        </p:nvSpPr>
        <p:spPr>
          <a:xfrm>
            <a:off x="548640" y="1280160"/>
            <a:ext cx="10058400" cy="320040"/>
          </a:xfrm>
          <a:prstGeom prst="rect">
            <a:avLst/>
          </a:prstGeom>
          <a:noFill/>
          <a:ln/>
        </p:spPr>
        <p:txBody>
          <a:bodyPr wrap="square" lIns="0" tIns="0" rIns="0" bIns="0" rtlCol="0" anchor="t"/>
          <a:lstStyle/>
          <a:p>
            <a:pPr indent="0" marL="0">
              <a:buNone/>
            </a:pPr>
            <a:r>
              <a:rPr lang="en-US" sz="1400" i="1" dirty="0">
                <a:solidFill>
                  <a:srgbClr val="475569"/>
                </a:solidFill>
              </a:rPr>
              <a:t>~100 papers → hypothesis pipeline → implementation &amp; backtest</a:t>
            </a:r>
            <a:endParaRPr lang="en-US" sz="1400" dirty="0"/>
          </a:p>
        </p:txBody>
      </p:sp>
      <p:pic>
        <p:nvPicPr>
          <p:cNvPr id="5" name="Image 0" descr="preencoded.png">    </p:cNvPr>
          <p:cNvPicPr>
            <a:picLocks noChangeAspect="1"/>
          </p:cNvPicPr>
          <p:nvPr/>
        </p:nvPicPr>
        <p:blipFill>
          <a:blip r:embed="rId1"/>
          <a:stretch>
            <a:fillRect/>
          </a:stretch>
        </p:blipFill>
        <p:spPr>
          <a:xfrm>
            <a:off x="10835640" y="457200"/>
            <a:ext cx="868680" cy="868680"/>
          </a:xfrm>
          <a:prstGeom prst="rect">
            <a:avLst/>
          </a:prstGeom>
        </p:spPr>
      </p:pic>
      <p:sp>
        <p:nvSpPr>
          <p:cNvPr id="6" name="Shape 3"/>
          <p:cNvSpPr/>
          <p:nvPr/>
        </p:nvSpPr>
        <p:spPr>
          <a:xfrm>
            <a:off x="548640" y="1783080"/>
            <a:ext cx="5486400" cy="4434840"/>
          </a:xfrm>
          <a:prstGeom prst="rect">
            <a:avLst/>
          </a:prstGeom>
          <a:solidFill>
            <a:srgbClr val="F4F6FA"/>
          </a:solidFill>
          <a:ln w="12700">
            <a:solidFill>
              <a:srgbClr val="E2E8F0"/>
            </a:solidFill>
            <a:prstDash val="solid"/>
          </a:ln>
        </p:spPr>
      </p:sp>
      <p:sp>
        <p:nvSpPr>
          <p:cNvPr id="7" name="Shape 4"/>
          <p:cNvSpPr/>
          <p:nvPr/>
        </p:nvSpPr>
        <p:spPr>
          <a:xfrm>
            <a:off x="548640" y="1783080"/>
            <a:ext cx="73152" cy="4434840"/>
          </a:xfrm>
          <a:prstGeom prst="rect">
            <a:avLst/>
          </a:prstGeom>
          <a:solidFill>
            <a:srgbClr val="8B5CF6"/>
          </a:solidFill>
          <a:ln w="12700">
            <a:solidFill>
              <a:srgbClr val="333333"/>
            </a:solidFill>
            <a:prstDash val="solid"/>
          </a:ln>
        </p:spPr>
      </p:sp>
      <p:sp>
        <p:nvSpPr>
          <p:cNvPr id="8" name="Text 5"/>
          <p:cNvSpPr/>
          <p:nvPr/>
        </p:nvSpPr>
        <p:spPr>
          <a:xfrm>
            <a:off x="822960" y="1965960"/>
            <a:ext cx="5120640" cy="274320"/>
          </a:xfrm>
          <a:prstGeom prst="rect">
            <a:avLst/>
          </a:prstGeom>
          <a:noFill/>
          <a:ln/>
        </p:spPr>
        <p:txBody>
          <a:bodyPr wrap="square" lIns="0" tIns="0" rIns="0" bIns="0" rtlCol="0" anchor="t"/>
          <a:lstStyle/>
          <a:p>
            <a:pPr indent="0" marL="0">
              <a:buNone/>
            </a:pPr>
            <a:r>
              <a:rPr lang="en-US" sz="1050" b="1" spc="300" kern="0" dirty="0">
                <a:solidFill>
                  <a:srgbClr val="8B5CF6"/>
                </a:solidFill>
              </a:rPr>
              <a:t>HOW IT WORKS</a:t>
            </a:r>
            <a:endParaRPr lang="en-US" sz="1050" dirty="0"/>
          </a:p>
        </p:txBody>
      </p:sp>
      <p:sp>
        <p:nvSpPr>
          <p:cNvPr id="9" name="Text 6"/>
          <p:cNvSpPr/>
          <p:nvPr/>
        </p:nvSpPr>
        <p:spPr>
          <a:xfrm>
            <a:off x="822960" y="2331720"/>
            <a:ext cx="5120640" cy="274320"/>
          </a:xfrm>
          <a:prstGeom prst="rect">
            <a:avLst/>
          </a:prstGeom>
          <a:noFill/>
          <a:ln/>
        </p:spPr>
        <p:txBody>
          <a:bodyPr wrap="square" lIns="0" tIns="0" rIns="0" bIns="0" rtlCol="0" anchor="t"/>
          <a:lstStyle/>
          <a:p>
            <a:pPr indent="0" marL="0">
              <a:buNone/>
            </a:pPr>
            <a:r>
              <a:rPr lang="en-US" sz="1300" b="1" dirty="0">
                <a:solidFill>
                  <a:srgbClr val="0F172A"/>
                </a:solidFill>
              </a:rPr>
              <a:t>Inputs</a:t>
            </a:r>
            <a:endParaRPr lang="en-US" sz="1300" dirty="0"/>
          </a:p>
        </p:txBody>
      </p:sp>
      <p:sp>
        <p:nvSpPr>
          <p:cNvPr id="10" name="Text 7"/>
          <p:cNvSpPr/>
          <p:nvPr/>
        </p:nvSpPr>
        <p:spPr>
          <a:xfrm>
            <a:off x="822960" y="2651760"/>
            <a:ext cx="5120640" cy="1280160"/>
          </a:xfrm>
          <a:prstGeom prst="rect">
            <a:avLst/>
          </a:prstGeom>
          <a:noFill/>
          <a:ln/>
        </p:spPr>
        <p:txBody>
          <a:bodyPr wrap="square" rtlCol="0" anchor="t"/>
          <a:lstStyle/>
          <a:p>
            <a:pPr marL="342900" indent="-342900">
              <a:spcAft>
                <a:spcPts val="400"/>
              </a:spcAft>
              <a:buSzPct val="100000"/>
              <a:buChar char="•"/>
            </a:pPr>
            <a:r>
              <a:rPr lang="en-US" sz="1200" dirty="0">
                <a:solidFill>
                  <a:srgbClr val="0F172A"/>
                </a:solidFill>
              </a:rPr>
              <a:t>Curated library of ~100+ academic &amp; industry papers</a:t>
            </a:r>
            <a:endParaRPr lang="en-US" sz="1200" dirty="0"/>
          </a:p>
          <a:p>
            <a:pPr marL="342900" indent="-342900">
              <a:spcAft>
                <a:spcPts val="400"/>
              </a:spcAft>
              <a:buSzPct val="100000"/>
              <a:buChar char="•"/>
            </a:pPr>
            <a:r>
              <a:rPr lang="en-US" sz="1200" dirty="0">
                <a:solidFill>
                  <a:srgbClr val="0F172A"/>
                </a:solidFill>
              </a:rPr>
              <a:t>Each paper distilled into one (or several) testable hypotheses</a:t>
            </a:r>
            <a:endParaRPr lang="en-US" sz="1200" dirty="0"/>
          </a:p>
          <a:p>
            <a:pPr marL="342900" indent="-342900">
              <a:spcAft>
                <a:spcPts val="400"/>
              </a:spcAft>
              <a:buSzPct val="100000"/>
              <a:buChar char="•"/>
            </a:pPr>
            <a:r>
              <a:rPr lang="en-US" sz="1200" dirty="0">
                <a:solidFill>
                  <a:srgbClr val="0F172A"/>
                </a:solidFill>
              </a:rPr>
              <a:t>Standard market data + any data the hypothesis requires</a:t>
            </a:r>
            <a:endParaRPr lang="en-US" sz="1200" dirty="0"/>
          </a:p>
        </p:txBody>
      </p:sp>
      <p:sp>
        <p:nvSpPr>
          <p:cNvPr id="11" name="Text 8"/>
          <p:cNvSpPr/>
          <p:nvPr/>
        </p:nvSpPr>
        <p:spPr>
          <a:xfrm>
            <a:off x="822960" y="3977640"/>
            <a:ext cx="5120640" cy="274320"/>
          </a:xfrm>
          <a:prstGeom prst="rect">
            <a:avLst/>
          </a:prstGeom>
          <a:noFill/>
          <a:ln/>
        </p:spPr>
        <p:txBody>
          <a:bodyPr wrap="square" lIns="0" tIns="0" rIns="0" bIns="0" rtlCol="0" anchor="t"/>
          <a:lstStyle/>
          <a:p>
            <a:pPr indent="0" marL="0">
              <a:buNone/>
            </a:pPr>
            <a:r>
              <a:rPr lang="en-US" sz="1300" b="1" dirty="0">
                <a:solidFill>
                  <a:srgbClr val="0F172A"/>
                </a:solidFill>
              </a:rPr>
              <a:t>Mechanism</a:t>
            </a:r>
            <a:endParaRPr lang="en-US" sz="1300" dirty="0"/>
          </a:p>
        </p:txBody>
      </p:sp>
      <p:sp>
        <p:nvSpPr>
          <p:cNvPr id="12" name="Text 9"/>
          <p:cNvSpPr/>
          <p:nvPr/>
        </p:nvSpPr>
        <p:spPr>
          <a:xfrm>
            <a:off x="822960" y="4297680"/>
            <a:ext cx="5120640" cy="1828800"/>
          </a:xfrm>
          <a:prstGeom prst="rect">
            <a:avLst/>
          </a:prstGeom>
          <a:noFill/>
          <a:ln/>
        </p:spPr>
        <p:txBody>
          <a:bodyPr wrap="square" lIns="0" tIns="0" rIns="0" bIns="0" rtlCol="0" anchor="t"/>
          <a:lstStyle/>
          <a:p>
            <a:pPr indent="0" marL="0">
              <a:buNone/>
            </a:pPr>
            <a:r>
              <a:rPr lang="en-US" sz="1200" dirty="0">
                <a:solidFill>
                  <a:srgbClr val="0F172A"/>
                </a:solidFill>
              </a:rPr>
              <a:t>Reading agent extracts intuition / signal definition from each paper. Implementation agent codes the strategy on our data and universe — often with a twist (different horizon, different commodity set). Critic Agent stress-tests OOS.</a:t>
            </a:r>
            <a:endParaRPr lang="en-US" sz="1200" dirty="0"/>
          </a:p>
        </p:txBody>
      </p:sp>
      <p:sp>
        <p:nvSpPr>
          <p:cNvPr id="13" name="Shape 10"/>
          <p:cNvSpPr/>
          <p:nvPr/>
        </p:nvSpPr>
        <p:spPr>
          <a:xfrm>
            <a:off x="6400800" y="1783080"/>
            <a:ext cx="5212080" cy="214884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pic>
        <p:nvPicPr>
          <p:cNvPr id="14" name="Image 1" descr="preencoded.png">    </p:cNvPr>
          <p:cNvPicPr>
            <a:picLocks noChangeAspect="1"/>
          </p:cNvPicPr>
          <p:nvPr/>
        </p:nvPicPr>
        <p:blipFill>
          <a:blip r:embed="rId2"/>
          <a:stretch>
            <a:fillRect/>
          </a:stretch>
        </p:blipFill>
        <p:spPr>
          <a:xfrm>
            <a:off x="6629400" y="1947672"/>
            <a:ext cx="274320" cy="274320"/>
          </a:xfrm>
          <a:prstGeom prst="rect">
            <a:avLst/>
          </a:prstGeom>
        </p:spPr>
      </p:pic>
      <p:sp>
        <p:nvSpPr>
          <p:cNvPr id="15" name="Text 11"/>
          <p:cNvSpPr/>
          <p:nvPr/>
        </p:nvSpPr>
        <p:spPr>
          <a:xfrm>
            <a:off x="6995160" y="1920240"/>
            <a:ext cx="1828800" cy="320040"/>
          </a:xfrm>
          <a:prstGeom prst="rect">
            <a:avLst/>
          </a:prstGeom>
          <a:noFill/>
          <a:ln/>
        </p:spPr>
        <p:txBody>
          <a:bodyPr wrap="square" lIns="0" tIns="0" rIns="0" bIns="0" rtlCol="0" anchor="ctr"/>
          <a:lstStyle/>
          <a:p>
            <a:pPr indent="0" marL="0">
              <a:buNone/>
            </a:pPr>
            <a:r>
              <a:rPr lang="en-US" sz="1100" b="1" spc="300" kern="0" dirty="0">
                <a:solidFill>
                  <a:srgbClr val="059669"/>
                </a:solidFill>
              </a:rPr>
              <a:t>PROS</a:t>
            </a:r>
            <a:endParaRPr lang="en-US" sz="1100" dirty="0"/>
          </a:p>
        </p:txBody>
      </p:sp>
      <p:sp>
        <p:nvSpPr>
          <p:cNvPr id="16" name="Text 12"/>
          <p:cNvSpPr/>
          <p:nvPr/>
        </p:nvSpPr>
        <p:spPr>
          <a:xfrm>
            <a:off x="6629400" y="2331720"/>
            <a:ext cx="4754880" cy="1554480"/>
          </a:xfrm>
          <a:prstGeom prst="rect">
            <a:avLst/>
          </a:prstGeom>
          <a:noFill/>
          <a:ln/>
        </p:spPr>
        <p:txBody>
          <a:bodyPr wrap="square" rtlCol="0" anchor="t"/>
          <a:lstStyle/>
          <a:p>
            <a:pPr marL="342900" indent="-342900">
              <a:spcAft>
                <a:spcPts val="500"/>
              </a:spcAft>
              <a:buSzPct val="100000"/>
              <a:buChar char="•"/>
            </a:pPr>
            <a:r>
              <a:rPr lang="en-US" sz="1200" dirty="0">
                <a:solidFill>
                  <a:srgbClr val="0F172A"/>
                </a:solidFill>
              </a:rPr>
              <a:t>Each strategy carries a built-in economic rationale</a:t>
            </a:r>
            <a:endParaRPr lang="en-US" sz="1200" dirty="0"/>
          </a:p>
          <a:p>
            <a:pPr marL="342900" indent="-342900">
              <a:spcAft>
                <a:spcPts val="500"/>
              </a:spcAft>
              <a:buSzPct val="100000"/>
              <a:buChar char="•"/>
            </a:pPr>
            <a:r>
              <a:rPr lang="en-US" sz="1200" dirty="0">
                <a:solidFill>
                  <a:srgbClr val="0F172A"/>
                </a:solidFill>
              </a:rPr>
              <a:t>Easy to explain to PMs and traders</a:t>
            </a:r>
            <a:endParaRPr lang="en-US" sz="1200" dirty="0"/>
          </a:p>
          <a:p>
            <a:pPr marL="342900" indent="-342900">
              <a:spcAft>
                <a:spcPts val="500"/>
              </a:spcAft>
              <a:buSzPct val="100000"/>
              <a:buChar char="•"/>
            </a:pPr>
            <a:r>
              <a:rPr lang="en-US" sz="1200" dirty="0">
                <a:solidFill>
                  <a:srgbClr val="0F172A"/>
                </a:solidFill>
              </a:rPr>
              <a:t>100+ papers = high-throughput idea funnel at low marginal cost</a:t>
            </a:r>
            <a:endParaRPr lang="en-US" sz="1200" dirty="0"/>
          </a:p>
          <a:p>
            <a:pPr marL="342900" indent="-342900">
              <a:spcAft>
                <a:spcPts val="500"/>
              </a:spcAft>
              <a:buSzPct val="100000"/>
              <a:buChar char="•"/>
            </a:pPr>
            <a:r>
              <a:rPr lang="en-US" sz="1200" dirty="0">
                <a:solidFill>
                  <a:srgbClr val="0F172A"/>
                </a:solidFill>
              </a:rPr>
              <a:t>Lowest p-hacking risk — hypothesis is fixed before backtest</a:t>
            </a:r>
            <a:endParaRPr lang="en-US" sz="1200" dirty="0"/>
          </a:p>
        </p:txBody>
      </p:sp>
      <p:sp>
        <p:nvSpPr>
          <p:cNvPr id="17" name="Shape 13"/>
          <p:cNvSpPr/>
          <p:nvPr/>
        </p:nvSpPr>
        <p:spPr>
          <a:xfrm>
            <a:off x="6400800" y="4069080"/>
            <a:ext cx="5212080" cy="214884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pic>
        <p:nvPicPr>
          <p:cNvPr id="18" name="Image 2" descr="preencoded.png">    </p:cNvPr>
          <p:cNvPicPr>
            <a:picLocks noChangeAspect="1"/>
          </p:cNvPicPr>
          <p:nvPr/>
        </p:nvPicPr>
        <p:blipFill>
          <a:blip r:embed="rId3"/>
          <a:stretch>
            <a:fillRect/>
          </a:stretch>
        </p:blipFill>
        <p:spPr>
          <a:xfrm>
            <a:off x="6629400" y="4233672"/>
            <a:ext cx="274320" cy="274320"/>
          </a:xfrm>
          <a:prstGeom prst="rect">
            <a:avLst/>
          </a:prstGeom>
        </p:spPr>
      </p:pic>
      <p:sp>
        <p:nvSpPr>
          <p:cNvPr id="19" name="Text 14"/>
          <p:cNvSpPr/>
          <p:nvPr/>
        </p:nvSpPr>
        <p:spPr>
          <a:xfrm>
            <a:off x="6995160" y="4206240"/>
            <a:ext cx="2743200" cy="320040"/>
          </a:xfrm>
          <a:prstGeom prst="rect">
            <a:avLst/>
          </a:prstGeom>
          <a:noFill/>
          <a:ln/>
        </p:spPr>
        <p:txBody>
          <a:bodyPr wrap="square" lIns="0" tIns="0" rIns="0" bIns="0" rtlCol="0" anchor="ctr"/>
          <a:lstStyle/>
          <a:p>
            <a:pPr indent="0" marL="0">
              <a:buNone/>
            </a:pPr>
            <a:r>
              <a:rPr lang="en-US" sz="1100" b="1" spc="300" kern="0" dirty="0">
                <a:solidFill>
                  <a:srgbClr val="DC2626"/>
                </a:solidFill>
              </a:rPr>
              <a:t>CONS / RISKS</a:t>
            </a:r>
            <a:endParaRPr lang="en-US" sz="1100" dirty="0"/>
          </a:p>
        </p:txBody>
      </p:sp>
      <p:sp>
        <p:nvSpPr>
          <p:cNvPr id="20" name="Text 15"/>
          <p:cNvSpPr/>
          <p:nvPr/>
        </p:nvSpPr>
        <p:spPr>
          <a:xfrm>
            <a:off x="6629400" y="4617720"/>
            <a:ext cx="4754880" cy="1554480"/>
          </a:xfrm>
          <a:prstGeom prst="rect">
            <a:avLst/>
          </a:prstGeom>
          <a:noFill/>
          <a:ln/>
        </p:spPr>
        <p:txBody>
          <a:bodyPr wrap="square" rtlCol="0" anchor="t"/>
          <a:lstStyle/>
          <a:p>
            <a:pPr marL="342900" indent="-342900">
              <a:spcAft>
                <a:spcPts val="500"/>
              </a:spcAft>
              <a:buSzPct val="100000"/>
              <a:buChar char="•"/>
            </a:pPr>
            <a:r>
              <a:rPr lang="en-US" sz="1200" dirty="0">
                <a:solidFill>
                  <a:srgbClr val="0F172A"/>
                </a:solidFill>
              </a:rPr>
              <a:t>Published alpha is often arbed away — needs adaptation</a:t>
            </a:r>
            <a:endParaRPr lang="en-US" sz="1200" dirty="0"/>
          </a:p>
          <a:p>
            <a:pPr marL="342900" indent="-342900">
              <a:spcAft>
                <a:spcPts val="500"/>
              </a:spcAft>
              <a:buSzPct val="100000"/>
              <a:buChar char="•"/>
            </a:pPr>
            <a:r>
              <a:rPr lang="en-US" sz="1200" dirty="0">
                <a:solidFill>
                  <a:srgbClr val="0F172A"/>
                </a:solidFill>
              </a:rPr>
              <a:t>Quality bounded by the paper library curation</a:t>
            </a:r>
            <a:endParaRPr lang="en-US" sz="1200" dirty="0"/>
          </a:p>
          <a:p>
            <a:pPr marL="342900" indent="-342900">
              <a:spcAft>
                <a:spcPts val="500"/>
              </a:spcAft>
              <a:buSzPct val="100000"/>
              <a:buChar char="•"/>
            </a:pPr>
            <a:r>
              <a:rPr lang="en-US" sz="1200" dirty="0">
                <a:solidFill>
                  <a:srgbClr val="0F172A"/>
                </a:solidFill>
              </a:rPr>
              <a:t>Risk of crowded trades if multiple shops mine same papers</a:t>
            </a:r>
            <a:endParaRPr lang="en-US" sz="1200" dirty="0"/>
          </a:p>
        </p:txBody>
      </p:sp>
      <p:sp>
        <p:nvSpPr>
          <p:cNvPr id="21" name="Text 16"/>
          <p:cNvSpPr/>
          <p:nvPr/>
        </p:nvSpPr>
        <p:spPr>
          <a:xfrm>
            <a:off x="11430000" y="6446520"/>
            <a:ext cx="640080" cy="274320"/>
          </a:xfrm>
          <a:prstGeom prst="rect">
            <a:avLst/>
          </a:prstGeom>
          <a:noFill/>
          <a:ln/>
        </p:spPr>
        <p:txBody>
          <a:bodyPr wrap="square" lIns="0" tIns="0" rIns="0" bIns="0" rtlCol="0" anchor="ctr"/>
          <a:lstStyle/>
          <a:p>
            <a:pPr algn="r" indent="0" marL="0">
              <a:buNone/>
            </a:pPr>
            <a:r>
              <a:rPr lang="en-US" sz="900" dirty="0">
                <a:solidFill>
                  <a:srgbClr val="475569"/>
                </a:solidFill>
              </a:rPr>
              <a:t>4 / 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b="1" spc="400" kern="0" dirty="0">
                <a:solidFill>
                  <a:srgbClr val="00C2A8"/>
                </a:solidFill>
                <a:latin typeface="Calibri" pitchFamily="34" charset="0"/>
                <a:ea typeface="Calibri" pitchFamily="34" charset="-122"/>
                <a:cs typeface="Calibri" pitchFamily="34" charset="-120"/>
              </a:rPr>
              <a:t>TRACK 3</a:t>
            </a:r>
            <a:endParaRPr lang="en-US" sz="1100" dirty="0"/>
          </a:p>
        </p:txBody>
      </p:sp>
      <p:sp>
        <p:nvSpPr>
          <p:cNvPr id="3" name="Text 1"/>
          <p:cNvSpPr/>
          <p:nvPr/>
        </p:nvSpPr>
        <p:spPr>
          <a:xfrm>
            <a:off x="548640" y="713232"/>
            <a:ext cx="11155680" cy="64008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Commodity-Specialist Agents</a:t>
            </a:r>
            <a:endParaRPr lang="en-US" sz="2800" dirty="0"/>
          </a:p>
        </p:txBody>
      </p:sp>
      <p:sp>
        <p:nvSpPr>
          <p:cNvPr id="4" name="Text 2"/>
          <p:cNvSpPr/>
          <p:nvPr/>
        </p:nvSpPr>
        <p:spPr>
          <a:xfrm>
            <a:off x="548640" y="1280160"/>
            <a:ext cx="10058400" cy="320040"/>
          </a:xfrm>
          <a:prstGeom prst="rect">
            <a:avLst/>
          </a:prstGeom>
          <a:noFill/>
          <a:ln/>
        </p:spPr>
        <p:txBody>
          <a:bodyPr wrap="square" lIns="0" tIns="0" rIns="0" bIns="0" rtlCol="0" anchor="t"/>
          <a:lstStyle/>
          <a:p>
            <a:pPr indent="0" marL="0">
              <a:buNone/>
            </a:pPr>
            <a:r>
              <a:rPr lang="en-US" sz="1400" i="1" dirty="0">
                <a:solidFill>
                  <a:srgbClr val="475569"/>
                </a:solidFill>
              </a:rPr>
              <a:t>One agent per asset class — Oil, Gas, Ags, Metals</a:t>
            </a:r>
            <a:endParaRPr lang="en-US" sz="1400" dirty="0"/>
          </a:p>
        </p:txBody>
      </p:sp>
      <p:pic>
        <p:nvPicPr>
          <p:cNvPr id="5" name="Image 0" descr="preencoded.png">    </p:cNvPr>
          <p:cNvPicPr>
            <a:picLocks noChangeAspect="1"/>
          </p:cNvPicPr>
          <p:nvPr/>
        </p:nvPicPr>
        <p:blipFill>
          <a:blip r:embed="rId1"/>
          <a:stretch>
            <a:fillRect/>
          </a:stretch>
        </p:blipFill>
        <p:spPr>
          <a:xfrm>
            <a:off x="10835640" y="457200"/>
            <a:ext cx="868680" cy="868680"/>
          </a:xfrm>
          <a:prstGeom prst="rect">
            <a:avLst/>
          </a:prstGeom>
        </p:spPr>
      </p:pic>
      <p:sp>
        <p:nvSpPr>
          <p:cNvPr id="6" name="Shape 3"/>
          <p:cNvSpPr/>
          <p:nvPr/>
        </p:nvSpPr>
        <p:spPr>
          <a:xfrm>
            <a:off x="548640" y="1783080"/>
            <a:ext cx="5486400" cy="4434840"/>
          </a:xfrm>
          <a:prstGeom prst="rect">
            <a:avLst/>
          </a:prstGeom>
          <a:solidFill>
            <a:srgbClr val="F4F6FA"/>
          </a:solidFill>
          <a:ln w="12700">
            <a:solidFill>
              <a:srgbClr val="E2E8F0"/>
            </a:solidFill>
            <a:prstDash val="solid"/>
          </a:ln>
        </p:spPr>
      </p:sp>
      <p:sp>
        <p:nvSpPr>
          <p:cNvPr id="7" name="Shape 4"/>
          <p:cNvSpPr/>
          <p:nvPr/>
        </p:nvSpPr>
        <p:spPr>
          <a:xfrm>
            <a:off x="548640" y="1783080"/>
            <a:ext cx="73152" cy="4434840"/>
          </a:xfrm>
          <a:prstGeom prst="rect">
            <a:avLst/>
          </a:prstGeom>
          <a:solidFill>
            <a:srgbClr val="F59E0B"/>
          </a:solidFill>
          <a:ln w="12700">
            <a:solidFill>
              <a:srgbClr val="333333"/>
            </a:solidFill>
            <a:prstDash val="solid"/>
          </a:ln>
        </p:spPr>
      </p:sp>
      <p:sp>
        <p:nvSpPr>
          <p:cNvPr id="8" name="Text 5"/>
          <p:cNvSpPr/>
          <p:nvPr/>
        </p:nvSpPr>
        <p:spPr>
          <a:xfrm>
            <a:off x="822960" y="1965960"/>
            <a:ext cx="5120640" cy="274320"/>
          </a:xfrm>
          <a:prstGeom prst="rect">
            <a:avLst/>
          </a:prstGeom>
          <a:noFill/>
          <a:ln/>
        </p:spPr>
        <p:txBody>
          <a:bodyPr wrap="square" lIns="0" tIns="0" rIns="0" bIns="0" rtlCol="0" anchor="t"/>
          <a:lstStyle/>
          <a:p>
            <a:pPr indent="0" marL="0">
              <a:buNone/>
            </a:pPr>
            <a:r>
              <a:rPr lang="en-US" sz="1050" b="1" spc="300" kern="0" dirty="0">
                <a:solidFill>
                  <a:srgbClr val="F59E0B"/>
                </a:solidFill>
              </a:rPr>
              <a:t>HOW IT WORKS</a:t>
            </a:r>
            <a:endParaRPr lang="en-US" sz="1050" dirty="0"/>
          </a:p>
        </p:txBody>
      </p:sp>
      <p:sp>
        <p:nvSpPr>
          <p:cNvPr id="9" name="Text 6"/>
          <p:cNvSpPr/>
          <p:nvPr/>
        </p:nvSpPr>
        <p:spPr>
          <a:xfrm>
            <a:off x="822960" y="2331720"/>
            <a:ext cx="5120640" cy="274320"/>
          </a:xfrm>
          <a:prstGeom prst="rect">
            <a:avLst/>
          </a:prstGeom>
          <a:noFill/>
          <a:ln/>
        </p:spPr>
        <p:txBody>
          <a:bodyPr wrap="square" lIns="0" tIns="0" rIns="0" bIns="0" rtlCol="0" anchor="t"/>
          <a:lstStyle/>
          <a:p>
            <a:pPr indent="0" marL="0">
              <a:buNone/>
            </a:pPr>
            <a:r>
              <a:rPr lang="en-US" sz="1300" b="1" dirty="0">
                <a:solidFill>
                  <a:srgbClr val="0F172A"/>
                </a:solidFill>
              </a:rPr>
              <a:t>Inputs</a:t>
            </a:r>
            <a:endParaRPr lang="en-US" sz="1300" dirty="0"/>
          </a:p>
        </p:txBody>
      </p:sp>
      <p:sp>
        <p:nvSpPr>
          <p:cNvPr id="10" name="Text 7"/>
          <p:cNvSpPr/>
          <p:nvPr/>
        </p:nvSpPr>
        <p:spPr>
          <a:xfrm>
            <a:off x="822960" y="2651760"/>
            <a:ext cx="5120640" cy="1280160"/>
          </a:xfrm>
          <a:prstGeom prst="rect">
            <a:avLst/>
          </a:prstGeom>
          <a:noFill/>
          <a:ln/>
        </p:spPr>
        <p:txBody>
          <a:bodyPr wrap="square" rtlCol="0" anchor="t"/>
          <a:lstStyle/>
          <a:p>
            <a:pPr marL="342900" indent="-342900">
              <a:spcAft>
                <a:spcPts val="400"/>
              </a:spcAft>
              <a:buSzPct val="100000"/>
              <a:buChar char="•"/>
            </a:pPr>
            <a:r>
              <a:rPr lang="en-US" sz="1200" dirty="0">
                <a:solidFill>
                  <a:srgbClr val="0F172A"/>
                </a:solidFill>
              </a:rPr>
              <a:t>Asset-specific fundamentals: Kpler inventory, EIA, USDA, LME stocks</a:t>
            </a:r>
            <a:endParaRPr lang="en-US" sz="1200" dirty="0"/>
          </a:p>
          <a:p>
            <a:pPr marL="342900" indent="-342900">
              <a:spcAft>
                <a:spcPts val="400"/>
              </a:spcAft>
              <a:buSzPct val="100000"/>
              <a:buChar char="•"/>
            </a:pPr>
            <a:r>
              <a:rPr lang="en-US" sz="1200" dirty="0">
                <a:solidFill>
                  <a:srgbClr val="0F172A"/>
                </a:solidFill>
              </a:rPr>
              <a:t>Weather models, CFTC positioning, refinery / crush margins</a:t>
            </a:r>
            <a:endParaRPr lang="en-US" sz="1200" dirty="0"/>
          </a:p>
          <a:p>
            <a:pPr marL="342900" indent="-342900">
              <a:spcAft>
                <a:spcPts val="400"/>
              </a:spcAft>
              <a:buSzPct val="100000"/>
              <a:buChar char="•"/>
            </a:pPr>
            <a:r>
              <a:rPr lang="en-US" sz="1200" dirty="0">
                <a:solidFill>
                  <a:srgbClr val="0F172A"/>
                </a:solidFill>
              </a:rPr>
              <a:t>Drone-derived inventory signals, electricity grid forecasts</a:t>
            </a:r>
            <a:endParaRPr lang="en-US" sz="1200" dirty="0"/>
          </a:p>
        </p:txBody>
      </p:sp>
      <p:sp>
        <p:nvSpPr>
          <p:cNvPr id="11" name="Text 8"/>
          <p:cNvSpPr/>
          <p:nvPr/>
        </p:nvSpPr>
        <p:spPr>
          <a:xfrm>
            <a:off x="822960" y="3977640"/>
            <a:ext cx="5120640" cy="274320"/>
          </a:xfrm>
          <a:prstGeom prst="rect">
            <a:avLst/>
          </a:prstGeom>
          <a:noFill/>
          <a:ln/>
        </p:spPr>
        <p:txBody>
          <a:bodyPr wrap="square" lIns="0" tIns="0" rIns="0" bIns="0" rtlCol="0" anchor="t"/>
          <a:lstStyle/>
          <a:p>
            <a:pPr indent="0" marL="0">
              <a:buNone/>
            </a:pPr>
            <a:r>
              <a:rPr lang="en-US" sz="1300" b="1" dirty="0">
                <a:solidFill>
                  <a:srgbClr val="0F172A"/>
                </a:solidFill>
              </a:rPr>
              <a:t>Mechanism</a:t>
            </a:r>
            <a:endParaRPr lang="en-US" sz="1300" dirty="0"/>
          </a:p>
        </p:txBody>
      </p:sp>
      <p:sp>
        <p:nvSpPr>
          <p:cNvPr id="12" name="Text 9"/>
          <p:cNvSpPr/>
          <p:nvPr/>
        </p:nvSpPr>
        <p:spPr>
          <a:xfrm>
            <a:off x="822960" y="4297680"/>
            <a:ext cx="5120640" cy="1828800"/>
          </a:xfrm>
          <a:prstGeom prst="rect">
            <a:avLst/>
          </a:prstGeom>
          <a:noFill/>
          <a:ln/>
        </p:spPr>
        <p:txBody>
          <a:bodyPr wrap="square" lIns="0" tIns="0" rIns="0" bIns="0" rtlCol="0" anchor="t"/>
          <a:lstStyle/>
          <a:p>
            <a:pPr indent="0" marL="0">
              <a:buNone/>
            </a:pPr>
            <a:r>
              <a:rPr lang="en-US" sz="1200" dirty="0">
                <a:solidFill>
                  <a:srgbClr val="0F172A"/>
                </a:solidFill>
              </a:rPr>
              <a:t>Each agent owns one commodity complex and explores relationships between fundamental / alt data and price. Domain knowledge is encoded in the prompt (storage dynamics, seasonality, supply-demand frame). Outputs flow into the same registry.</a:t>
            </a:r>
            <a:endParaRPr lang="en-US" sz="1200" dirty="0"/>
          </a:p>
        </p:txBody>
      </p:sp>
      <p:sp>
        <p:nvSpPr>
          <p:cNvPr id="13" name="Shape 10"/>
          <p:cNvSpPr/>
          <p:nvPr/>
        </p:nvSpPr>
        <p:spPr>
          <a:xfrm>
            <a:off x="6400800" y="1783080"/>
            <a:ext cx="5212080" cy="214884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pic>
        <p:nvPicPr>
          <p:cNvPr id="14" name="Image 1" descr="preencoded.png">    </p:cNvPr>
          <p:cNvPicPr>
            <a:picLocks noChangeAspect="1"/>
          </p:cNvPicPr>
          <p:nvPr/>
        </p:nvPicPr>
        <p:blipFill>
          <a:blip r:embed="rId2"/>
          <a:stretch>
            <a:fillRect/>
          </a:stretch>
        </p:blipFill>
        <p:spPr>
          <a:xfrm>
            <a:off x="6629400" y="1947672"/>
            <a:ext cx="274320" cy="274320"/>
          </a:xfrm>
          <a:prstGeom prst="rect">
            <a:avLst/>
          </a:prstGeom>
        </p:spPr>
      </p:pic>
      <p:sp>
        <p:nvSpPr>
          <p:cNvPr id="15" name="Text 11"/>
          <p:cNvSpPr/>
          <p:nvPr/>
        </p:nvSpPr>
        <p:spPr>
          <a:xfrm>
            <a:off x="6995160" y="1920240"/>
            <a:ext cx="1828800" cy="320040"/>
          </a:xfrm>
          <a:prstGeom prst="rect">
            <a:avLst/>
          </a:prstGeom>
          <a:noFill/>
          <a:ln/>
        </p:spPr>
        <p:txBody>
          <a:bodyPr wrap="square" lIns="0" tIns="0" rIns="0" bIns="0" rtlCol="0" anchor="ctr"/>
          <a:lstStyle/>
          <a:p>
            <a:pPr indent="0" marL="0">
              <a:buNone/>
            </a:pPr>
            <a:r>
              <a:rPr lang="en-US" sz="1100" b="1" spc="300" kern="0" dirty="0">
                <a:solidFill>
                  <a:srgbClr val="059669"/>
                </a:solidFill>
              </a:rPr>
              <a:t>PROS</a:t>
            </a:r>
            <a:endParaRPr lang="en-US" sz="1100" dirty="0"/>
          </a:p>
        </p:txBody>
      </p:sp>
      <p:sp>
        <p:nvSpPr>
          <p:cNvPr id="16" name="Text 12"/>
          <p:cNvSpPr/>
          <p:nvPr/>
        </p:nvSpPr>
        <p:spPr>
          <a:xfrm>
            <a:off x="6629400" y="2331720"/>
            <a:ext cx="4754880" cy="1554480"/>
          </a:xfrm>
          <a:prstGeom prst="rect">
            <a:avLst/>
          </a:prstGeom>
          <a:noFill/>
          <a:ln/>
        </p:spPr>
        <p:txBody>
          <a:bodyPr wrap="square" rtlCol="0" anchor="t"/>
          <a:lstStyle/>
          <a:p>
            <a:pPr marL="342900" indent="-342900">
              <a:spcAft>
                <a:spcPts val="500"/>
              </a:spcAft>
              <a:buSzPct val="100000"/>
              <a:buChar char="•"/>
            </a:pPr>
            <a:r>
              <a:rPr lang="en-US" sz="1200" dirty="0">
                <a:solidFill>
                  <a:srgbClr val="0F172A"/>
                </a:solidFill>
              </a:rPr>
              <a:t>Directly leverages our differentiated alt-data edge</a:t>
            </a:r>
            <a:endParaRPr lang="en-US" sz="1200" dirty="0"/>
          </a:p>
          <a:p>
            <a:pPr marL="342900" indent="-342900">
              <a:spcAft>
                <a:spcPts val="500"/>
              </a:spcAft>
              <a:buSzPct val="100000"/>
              <a:buChar char="•"/>
            </a:pPr>
            <a:r>
              <a:rPr lang="en-US" sz="1200" dirty="0">
                <a:solidFill>
                  <a:srgbClr val="0F172A"/>
                </a:solidFill>
              </a:rPr>
              <a:t>Domain context unlocks signals a generalist misses</a:t>
            </a:r>
            <a:endParaRPr lang="en-US" sz="1200" dirty="0"/>
          </a:p>
          <a:p>
            <a:pPr marL="342900" indent="-342900">
              <a:spcAft>
                <a:spcPts val="500"/>
              </a:spcAft>
              <a:buSzPct val="100000"/>
              <a:buChar char="•"/>
            </a:pPr>
            <a:r>
              <a:rPr lang="en-US" sz="1200" dirty="0">
                <a:solidFill>
                  <a:srgbClr val="0F172A"/>
                </a:solidFill>
              </a:rPr>
              <a:t>Aligns with existing TTF / Henry Hub / corn-vol research</a:t>
            </a:r>
            <a:endParaRPr lang="en-US" sz="1200" dirty="0"/>
          </a:p>
          <a:p>
            <a:pPr marL="342900" indent="-342900">
              <a:spcAft>
                <a:spcPts val="500"/>
              </a:spcAft>
              <a:buSzPct val="100000"/>
              <a:buChar char="•"/>
            </a:pPr>
            <a:r>
              <a:rPr lang="en-US" sz="1200" dirty="0">
                <a:solidFill>
                  <a:srgbClr val="0F172A"/>
                </a:solidFill>
              </a:rPr>
              <a:t>Clear ownership boundary per commodity team</a:t>
            </a:r>
            <a:endParaRPr lang="en-US" sz="1200" dirty="0"/>
          </a:p>
        </p:txBody>
      </p:sp>
      <p:sp>
        <p:nvSpPr>
          <p:cNvPr id="17" name="Shape 13"/>
          <p:cNvSpPr/>
          <p:nvPr/>
        </p:nvSpPr>
        <p:spPr>
          <a:xfrm>
            <a:off x="6400800" y="4069080"/>
            <a:ext cx="5212080" cy="214884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pic>
        <p:nvPicPr>
          <p:cNvPr id="18" name="Image 2" descr="preencoded.png">    </p:cNvPr>
          <p:cNvPicPr>
            <a:picLocks noChangeAspect="1"/>
          </p:cNvPicPr>
          <p:nvPr/>
        </p:nvPicPr>
        <p:blipFill>
          <a:blip r:embed="rId3"/>
          <a:stretch>
            <a:fillRect/>
          </a:stretch>
        </p:blipFill>
        <p:spPr>
          <a:xfrm>
            <a:off x="6629400" y="4233672"/>
            <a:ext cx="274320" cy="274320"/>
          </a:xfrm>
          <a:prstGeom prst="rect">
            <a:avLst/>
          </a:prstGeom>
        </p:spPr>
      </p:pic>
      <p:sp>
        <p:nvSpPr>
          <p:cNvPr id="19" name="Text 14"/>
          <p:cNvSpPr/>
          <p:nvPr/>
        </p:nvSpPr>
        <p:spPr>
          <a:xfrm>
            <a:off x="6995160" y="4206240"/>
            <a:ext cx="2743200" cy="320040"/>
          </a:xfrm>
          <a:prstGeom prst="rect">
            <a:avLst/>
          </a:prstGeom>
          <a:noFill/>
          <a:ln/>
        </p:spPr>
        <p:txBody>
          <a:bodyPr wrap="square" lIns="0" tIns="0" rIns="0" bIns="0" rtlCol="0" anchor="ctr"/>
          <a:lstStyle/>
          <a:p>
            <a:pPr indent="0" marL="0">
              <a:buNone/>
            </a:pPr>
            <a:r>
              <a:rPr lang="en-US" sz="1100" b="1" spc="300" kern="0" dirty="0">
                <a:solidFill>
                  <a:srgbClr val="DC2626"/>
                </a:solidFill>
              </a:rPr>
              <a:t>CONS / RISKS</a:t>
            </a:r>
            <a:endParaRPr lang="en-US" sz="1100" dirty="0"/>
          </a:p>
        </p:txBody>
      </p:sp>
      <p:sp>
        <p:nvSpPr>
          <p:cNvPr id="20" name="Text 15"/>
          <p:cNvSpPr/>
          <p:nvPr/>
        </p:nvSpPr>
        <p:spPr>
          <a:xfrm>
            <a:off x="6629400" y="4617720"/>
            <a:ext cx="4754880" cy="1554480"/>
          </a:xfrm>
          <a:prstGeom prst="rect">
            <a:avLst/>
          </a:prstGeom>
          <a:noFill/>
          <a:ln/>
        </p:spPr>
        <p:txBody>
          <a:bodyPr wrap="square" rtlCol="0" anchor="t"/>
          <a:lstStyle/>
          <a:p>
            <a:pPr marL="342900" indent="-342900">
              <a:spcAft>
                <a:spcPts val="500"/>
              </a:spcAft>
              <a:buSzPct val="100000"/>
              <a:buChar char="•"/>
            </a:pPr>
            <a:r>
              <a:rPr lang="en-US" sz="1200" dirty="0">
                <a:solidFill>
                  <a:srgbClr val="0F172A"/>
                </a:solidFill>
              </a:rPr>
              <a:t>Highest infra cost — 4 specialized data stacks to maintain</a:t>
            </a:r>
            <a:endParaRPr lang="en-US" sz="1200" dirty="0"/>
          </a:p>
          <a:p>
            <a:pPr marL="342900" indent="-342900">
              <a:spcAft>
                <a:spcPts val="500"/>
              </a:spcAft>
              <a:buSzPct val="100000"/>
              <a:buChar char="•"/>
            </a:pPr>
            <a:r>
              <a:rPr lang="en-US" sz="1200" dirty="0">
                <a:solidFill>
                  <a:srgbClr val="0F172A"/>
                </a:solidFill>
              </a:rPr>
              <a:t>Cross-asset signals fall through the cracks (Track 1 covers this)</a:t>
            </a:r>
            <a:endParaRPr lang="en-US" sz="1200" dirty="0"/>
          </a:p>
          <a:p>
            <a:pPr marL="342900" indent="-342900">
              <a:spcAft>
                <a:spcPts val="500"/>
              </a:spcAft>
              <a:buSzPct val="100000"/>
              <a:buChar char="•"/>
            </a:pPr>
            <a:r>
              <a:rPr lang="en-US" sz="1200" dirty="0">
                <a:solidFill>
                  <a:srgbClr val="0F172A"/>
                </a:solidFill>
              </a:rPr>
              <a:t>Risk of agent over-reliance on one favorite data source</a:t>
            </a:r>
            <a:endParaRPr lang="en-US" sz="1200" dirty="0"/>
          </a:p>
        </p:txBody>
      </p:sp>
      <p:sp>
        <p:nvSpPr>
          <p:cNvPr id="21" name="Text 16"/>
          <p:cNvSpPr/>
          <p:nvPr/>
        </p:nvSpPr>
        <p:spPr>
          <a:xfrm>
            <a:off x="11430000" y="6446520"/>
            <a:ext cx="640080" cy="274320"/>
          </a:xfrm>
          <a:prstGeom prst="rect">
            <a:avLst/>
          </a:prstGeom>
          <a:noFill/>
          <a:ln/>
        </p:spPr>
        <p:txBody>
          <a:bodyPr wrap="square" lIns="0" tIns="0" rIns="0" bIns="0" rtlCol="0" anchor="ctr"/>
          <a:lstStyle/>
          <a:p>
            <a:pPr algn="r" indent="0" marL="0">
              <a:buNone/>
            </a:pPr>
            <a:r>
              <a:rPr lang="en-US" sz="900" dirty="0">
                <a:solidFill>
                  <a:srgbClr val="475569"/>
                </a:solidFill>
              </a:rPr>
              <a:t>5 / 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b="1" spc="400" kern="0" dirty="0">
                <a:solidFill>
                  <a:srgbClr val="00C2A8"/>
                </a:solidFill>
                <a:latin typeface="Calibri" pitchFamily="34" charset="0"/>
                <a:ea typeface="Calibri" pitchFamily="34" charset="-122"/>
                <a:cs typeface="Calibri" pitchFamily="34" charset="-120"/>
              </a:rPr>
              <a:t>TRACK 4</a:t>
            </a:r>
            <a:endParaRPr lang="en-US" sz="1100" dirty="0"/>
          </a:p>
        </p:txBody>
      </p:sp>
      <p:sp>
        <p:nvSpPr>
          <p:cNvPr id="3" name="Text 1"/>
          <p:cNvSpPr/>
          <p:nvPr/>
        </p:nvSpPr>
        <p:spPr>
          <a:xfrm>
            <a:off x="548640" y="713232"/>
            <a:ext cx="11155680" cy="64008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Strategy-Archetype Agents</a:t>
            </a:r>
            <a:endParaRPr lang="en-US" sz="2800" dirty="0"/>
          </a:p>
        </p:txBody>
      </p:sp>
      <p:sp>
        <p:nvSpPr>
          <p:cNvPr id="4" name="Text 2"/>
          <p:cNvSpPr/>
          <p:nvPr/>
        </p:nvSpPr>
        <p:spPr>
          <a:xfrm>
            <a:off x="548640" y="1280160"/>
            <a:ext cx="10058400" cy="320040"/>
          </a:xfrm>
          <a:prstGeom prst="rect">
            <a:avLst/>
          </a:prstGeom>
          <a:noFill/>
          <a:ln/>
        </p:spPr>
        <p:txBody>
          <a:bodyPr wrap="square" lIns="0" tIns="0" rIns="0" bIns="0" rtlCol="0" anchor="t"/>
          <a:lstStyle/>
          <a:p>
            <a:pPr indent="0" marL="0">
              <a:buNone/>
            </a:pPr>
            <a:r>
              <a:rPr lang="en-US" sz="1400" i="1" dirty="0">
                <a:solidFill>
                  <a:srgbClr val="475569"/>
                </a:solidFill>
              </a:rPr>
              <a:t>8 agents, each constrained to one strategy family</a:t>
            </a:r>
            <a:endParaRPr lang="en-US" sz="1400" dirty="0"/>
          </a:p>
        </p:txBody>
      </p:sp>
      <p:pic>
        <p:nvPicPr>
          <p:cNvPr id="5" name="Image 0" descr="preencoded.png">    </p:cNvPr>
          <p:cNvPicPr>
            <a:picLocks noChangeAspect="1"/>
          </p:cNvPicPr>
          <p:nvPr/>
        </p:nvPicPr>
        <p:blipFill>
          <a:blip r:embed="rId1"/>
          <a:stretch>
            <a:fillRect/>
          </a:stretch>
        </p:blipFill>
        <p:spPr>
          <a:xfrm>
            <a:off x="10835640" y="457200"/>
            <a:ext cx="868680" cy="868680"/>
          </a:xfrm>
          <a:prstGeom prst="rect">
            <a:avLst/>
          </a:prstGeom>
        </p:spPr>
      </p:pic>
      <p:sp>
        <p:nvSpPr>
          <p:cNvPr id="6" name="Shape 3"/>
          <p:cNvSpPr/>
          <p:nvPr/>
        </p:nvSpPr>
        <p:spPr>
          <a:xfrm>
            <a:off x="548640" y="1783080"/>
            <a:ext cx="5486400" cy="4434840"/>
          </a:xfrm>
          <a:prstGeom prst="rect">
            <a:avLst/>
          </a:prstGeom>
          <a:solidFill>
            <a:srgbClr val="F4F6FA"/>
          </a:solidFill>
          <a:ln w="12700">
            <a:solidFill>
              <a:srgbClr val="E2E8F0"/>
            </a:solidFill>
            <a:prstDash val="solid"/>
          </a:ln>
        </p:spPr>
      </p:sp>
      <p:sp>
        <p:nvSpPr>
          <p:cNvPr id="7" name="Shape 4"/>
          <p:cNvSpPr/>
          <p:nvPr/>
        </p:nvSpPr>
        <p:spPr>
          <a:xfrm>
            <a:off x="548640" y="1783080"/>
            <a:ext cx="73152" cy="4434840"/>
          </a:xfrm>
          <a:prstGeom prst="rect">
            <a:avLst/>
          </a:prstGeom>
          <a:solidFill>
            <a:srgbClr val="10B981"/>
          </a:solidFill>
          <a:ln w="12700">
            <a:solidFill>
              <a:srgbClr val="333333"/>
            </a:solidFill>
            <a:prstDash val="solid"/>
          </a:ln>
        </p:spPr>
      </p:sp>
      <p:sp>
        <p:nvSpPr>
          <p:cNvPr id="8" name="Text 5"/>
          <p:cNvSpPr/>
          <p:nvPr/>
        </p:nvSpPr>
        <p:spPr>
          <a:xfrm>
            <a:off x="822960" y="1965960"/>
            <a:ext cx="5120640" cy="274320"/>
          </a:xfrm>
          <a:prstGeom prst="rect">
            <a:avLst/>
          </a:prstGeom>
          <a:noFill/>
          <a:ln/>
        </p:spPr>
        <p:txBody>
          <a:bodyPr wrap="square" lIns="0" tIns="0" rIns="0" bIns="0" rtlCol="0" anchor="t"/>
          <a:lstStyle/>
          <a:p>
            <a:pPr indent="0" marL="0">
              <a:buNone/>
            </a:pPr>
            <a:r>
              <a:rPr lang="en-US" sz="1050" b="1" spc="300" kern="0" dirty="0">
                <a:solidFill>
                  <a:srgbClr val="10B981"/>
                </a:solidFill>
              </a:rPr>
              <a:t>HOW IT WORKS</a:t>
            </a:r>
            <a:endParaRPr lang="en-US" sz="1050" dirty="0"/>
          </a:p>
        </p:txBody>
      </p:sp>
      <p:sp>
        <p:nvSpPr>
          <p:cNvPr id="9" name="Text 6"/>
          <p:cNvSpPr/>
          <p:nvPr/>
        </p:nvSpPr>
        <p:spPr>
          <a:xfrm>
            <a:off x="822960" y="2331720"/>
            <a:ext cx="5120640" cy="274320"/>
          </a:xfrm>
          <a:prstGeom prst="rect">
            <a:avLst/>
          </a:prstGeom>
          <a:noFill/>
          <a:ln/>
        </p:spPr>
        <p:txBody>
          <a:bodyPr wrap="square" lIns="0" tIns="0" rIns="0" bIns="0" rtlCol="0" anchor="t"/>
          <a:lstStyle/>
          <a:p>
            <a:pPr indent="0" marL="0">
              <a:buNone/>
            </a:pPr>
            <a:r>
              <a:rPr lang="en-US" sz="1300" b="1" dirty="0">
                <a:solidFill>
                  <a:srgbClr val="0F172A"/>
                </a:solidFill>
              </a:rPr>
              <a:t>Inputs</a:t>
            </a:r>
            <a:endParaRPr lang="en-US" sz="1300" dirty="0"/>
          </a:p>
        </p:txBody>
      </p:sp>
      <p:sp>
        <p:nvSpPr>
          <p:cNvPr id="10" name="Text 7"/>
          <p:cNvSpPr/>
          <p:nvPr/>
        </p:nvSpPr>
        <p:spPr>
          <a:xfrm>
            <a:off x="822960" y="2651760"/>
            <a:ext cx="5120640" cy="1280160"/>
          </a:xfrm>
          <a:prstGeom prst="rect">
            <a:avLst/>
          </a:prstGeom>
          <a:noFill/>
          <a:ln/>
        </p:spPr>
        <p:txBody>
          <a:bodyPr wrap="square" rtlCol="0" anchor="t"/>
          <a:lstStyle/>
          <a:p>
            <a:pPr marL="342900" indent="-342900">
              <a:spcAft>
                <a:spcPts val="400"/>
              </a:spcAft>
              <a:buSzPct val="100000"/>
              <a:buChar char="•"/>
            </a:pPr>
            <a:r>
              <a:rPr lang="en-US" sz="1200" dirty="0">
                <a:solidFill>
                  <a:srgbClr val="0F172A"/>
                </a:solidFill>
              </a:rPr>
              <a:t>Same price + cost data as Track 1, plus any data the style needs</a:t>
            </a:r>
            <a:endParaRPr lang="en-US" sz="1200" dirty="0"/>
          </a:p>
          <a:p>
            <a:pPr marL="342900" indent="-342900">
              <a:spcAft>
                <a:spcPts val="400"/>
              </a:spcAft>
              <a:buSzPct val="100000"/>
              <a:buChar char="•"/>
            </a:pPr>
            <a:r>
              <a:rPr lang="en-US" sz="1200" dirty="0">
                <a:solidFill>
                  <a:srgbClr val="0F172A"/>
                </a:solidFill>
              </a:rPr>
              <a:t>Style-specific prompt: trend, mean-rev, seasonality, carry, vol, breakout, dispersion, event-driven</a:t>
            </a:r>
            <a:endParaRPr lang="en-US" sz="1200" dirty="0"/>
          </a:p>
          <a:p>
            <a:pPr marL="342900" indent="-342900">
              <a:spcAft>
                <a:spcPts val="400"/>
              </a:spcAft>
              <a:buSzPct val="100000"/>
              <a:buChar char="•"/>
            </a:pPr>
            <a:r>
              <a:rPr lang="en-US" sz="1200" dirty="0">
                <a:solidFill>
                  <a:srgbClr val="0F172A"/>
                </a:solidFill>
              </a:rPr>
              <a:t>Style-specific evaluation lens (e.g. Sharpe vs payoff asymmetry)</a:t>
            </a:r>
            <a:endParaRPr lang="en-US" sz="1200" dirty="0"/>
          </a:p>
        </p:txBody>
      </p:sp>
      <p:sp>
        <p:nvSpPr>
          <p:cNvPr id="11" name="Text 8"/>
          <p:cNvSpPr/>
          <p:nvPr/>
        </p:nvSpPr>
        <p:spPr>
          <a:xfrm>
            <a:off x="822960" y="3977640"/>
            <a:ext cx="5120640" cy="274320"/>
          </a:xfrm>
          <a:prstGeom prst="rect">
            <a:avLst/>
          </a:prstGeom>
          <a:noFill/>
          <a:ln/>
        </p:spPr>
        <p:txBody>
          <a:bodyPr wrap="square" lIns="0" tIns="0" rIns="0" bIns="0" rtlCol="0" anchor="t"/>
          <a:lstStyle/>
          <a:p>
            <a:pPr indent="0" marL="0">
              <a:buNone/>
            </a:pPr>
            <a:r>
              <a:rPr lang="en-US" sz="1300" b="1" dirty="0">
                <a:solidFill>
                  <a:srgbClr val="0F172A"/>
                </a:solidFill>
              </a:rPr>
              <a:t>Mechanism</a:t>
            </a:r>
            <a:endParaRPr lang="en-US" sz="1300" dirty="0"/>
          </a:p>
        </p:txBody>
      </p:sp>
      <p:sp>
        <p:nvSpPr>
          <p:cNvPr id="12" name="Text 9"/>
          <p:cNvSpPr/>
          <p:nvPr/>
        </p:nvSpPr>
        <p:spPr>
          <a:xfrm>
            <a:off x="822960" y="4297680"/>
            <a:ext cx="5120640" cy="1828800"/>
          </a:xfrm>
          <a:prstGeom prst="rect">
            <a:avLst/>
          </a:prstGeom>
          <a:noFill/>
          <a:ln/>
        </p:spPr>
        <p:txBody>
          <a:bodyPr wrap="square" lIns="0" tIns="0" rIns="0" bIns="0" rtlCol="0" anchor="t"/>
          <a:lstStyle/>
          <a:p>
            <a:pPr indent="0" marL="0">
              <a:buNone/>
            </a:pPr>
            <a:r>
              <a:rPr lang="en-US" sz="1200" dirty="0">
                <a:solidFill>
                  <a:srgbClr val="0F172A"/>
                </a:solidFill>
              </a:rPr>
              <a:t>Each agent searches only within its assigned style family. The prompt encodes domain knowledge for that archetype (e.g. trend agent knows about lookback windows, breakout filters, regime gates). Output is naturally categorized for portfolio construction.</a:t>
            </a:r>
            <a:endParaRPr lang="en-US" sz="1200" dirty="0"/>
          </a:p>
        </p:txBody>
      </p:sp>
      <p:sp>
        <p:nvSpPr>
          <p:cNvPr id="13" name="Shape 10"/>
          <p:cNvSpPr/>
          <p:nvPr/>
        </p:nvSpPr>
        <p:spPr>
          <a:xfrm>
            <a:off x="6400800" y="1783080"/>
            <a:ext cx="5212080" cy="214884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pic>
        <p:nvPicPr>
          <p:cNvPr id="14" name="Image 1" descr="preencoded.png">    </p:cNvPr>
          <p:cNvPicPr>
            <a:picLocks noChangeAspect="1"/>
          </p:cNvPicPr>
          <p:nvPr/>
        </p:nvPicPr>
        <p:blipFill>
          <a:blip r:embed="rId2"/>
          <a:stretch>
            <a:fillRect/>
          </a:stretch>
        </p:blipFill>
        <p:spPr>
          <a:xfrm>
            <a:off x="6629400" y="1947672"/>
            <a:ext cx="274320" cy="274320"/>
          </a:xfrm>
          <a:prstGeom prst="rect">
            <a:avLst/>
          </a:prstGeom>
        </p:spPr>
      </p:pic>
      <p:sp>
        <p:nvSpPr>
          <p:cNvPr id="15" name="Text 11"/>
          <p:cNvSpPr/>
          <p:nvPr/>
        </p:nvSpPr>
        <p:spPr>
          <a:xfrm>
            <a:off x="6995160" y="1920240"/>
            <a:ext cx="1828800" cy="320040"/>
          </a:xfrm>
          <a:prstGeom prst="rect">
            <a:avLst/>
          </a:prstGeom>
          <a:noFill/>
          <a:ln/>
        </p:spPr>
        <p:txBody>
          <a:bodyPr wrap="square" lIns="0" tIns="0" rIns="0" bIns="0" rtlCol="0" anchor="ctr"/>
          <a:lstStyle/>
          <a:p>
            <a:pPr indent="0" marL="0">
              <a:buNone/>
            </a:pPr>
            <a:r>
              <a:rPr lang="en-US" sz="1100" b="1" spc="300" kern="0" dirty="0">
                <a:solidFill>
                  <a:srgbClr val="059669"/>
                </a:solidFill>
              </a:rPr>
              <a:t>PROS</a:t>
            </a:r>
            <a:endParaRPr lang="en-US" sz="1100" dirty="0"/>
          </a:p>
        </p:txBody>
      </p:sp>
      <p:sp>
        <p:nvSpPr>
          <p:cNvPr id="16" name="Text 12"/>
          <p:cNvSpPr/>
          <p:nvPr/>
        </p:nvSpPr>
        <p:spPr>
          <a:xfrm>
            <a:off x="6629400" y="2331720"/>
            <a:ext cx="4754880" cy="1554480"/>
          </a:xfrm>
          <a:prstGeom prst="rect">
            <a:avLst/>
          </a:prstGeom>
          <a:noFill/>
          <a:ln/>
        </p:spPr>
        <p:txBody>
          <a:bodyPr wrap="square" rtlCol="0" anchor="t"/>
          <a:lstStyle/>
          <a:p>
            <a:pPr marL="342900" indent="-342900">
              <a:spcAft>
                <a:spcPts val="500"/>
              </a:spcAft>
              <a:buSzPct val="100000"/>
              <a:buChar char="•"/>
            </a:pPr>
            <a:r>
              <a:rPr lang="en-US" sz="1200" dirty="0">
                <a:solidFill>
                  <a:srgbClr val="0F172A"/>
                </a:solidFill>
              </a:rPr>
              <a:t>Clean taxonomy → straightforward risk budgeting</a:t>
            </a:r>
            <a:endParaRPr lang="en-US" sz="1200" dirty="0"/>
          </a:p>
          <a:p>
            <a:pPr marL="342900" indent="-342900">
              <a:spcAft>
                <a:spcPts val="500"/>
              </a:spcAft>
              <a:buSzPct val="100000"/>
              <a:buChar char="•"/>
            </a:pPr>
            <a:r>
              <a:rPr lang="en-US" sz="1200" dirty="0">
                <a:solidFill>
                  <a:srgbClr val="0F172A"/>
                </a:solidFill>
              </a:rPr>
              <a:t>Specialized prompts → higher quality within each style</a:t>
            </a:r>
            <a:endParaRPr lang="en-US" sz="1200" dirty="0"/>
          </a:p>
          <a:p>
            <a:pPr marL="342900" indent="-342900">
              <a:spcAft>
                <a:spcPts val="500"/>
              </a:spcAft>
              <a:buSzPct val="100000"/>
              <a:buChar char="•"/>
            </a:pPr>
            <a:r>
              <a:rPr lang="en-US" sz="1200" dirty="0">
                <a:solidFill>
                  <a:srgbClr val="0F172A"/>
                </a:solidFill>
              </a:rPr>
              <a:t>Easy to communicate to PMs ("this is our trend book")</a:t>
            </a:r>
            <a:endParaRPr lang="en-US" sz="1200" dirty="0"/>
          </a:p>
          <a:p>
            <a:pPr marL="342900" indent="-342900">
              <a:spcAft>
                <a:spcPts val="500"/>
              </a:spcAft>
              <a:buSzPct val="100000"/>
              <a:buChar char="•"/>
            </a:pPr>
            <a:r>
              <a:rPr lang="en-US" sz="1200" dirty="0">
                <a:solidFill>
                  <a:srgbClr val="0F172A"/>
                </a:solidFill>
              </a:rPr>
              <a:t>Natural fit with existing factor-style portfolio frameworks</a:t>
            </a:r>
            <a:endParaRPr lang="en-US" sz="1200" dirty="0"/>
          </a:p>
        </p:txBody>
      </p:sp>
      <p:sp>
        <p:nvSpPr>
          <p:cNvPr id="17" name="Shape 13"/>
          <p:cNvSpPr/>
          <p:nvPr/>
        </p:nvSpPr>
        <p:spPr>
          <a:xfrm>
            <a:off x="6400800" y="4069080"/>
            <a:ext cx="5212080" cy="214884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pic>
        <p:nvPicPr>
          <p:cNvPr id="18" name="Image 2" descr="preencoded.png">    </p:cNvPr>
          <p:cNvPicPr>
            <a:picLocks noChangeAspect="1"/>
          </p:cNvPicPr>
          <p:nvPr/>
        </p:nvPicPr>
        <p:blipFill>
          <a:blip r:embed="rId3"/>
          <a:stretch>
            <a:fillRect/>
          </a:stretch>
        </p:blipFill>
        <p:spPr>
          <a:xfrm>
            <a:off x="6629400" y="4233672"/>
            <a:ext cx="274320" cy="274320"/>
          </a:xfrm>
          <a:prstGeom prst="rect">
            <a:avLst/>
          </a:prstGeom>
        </p:spPr>
      </p:pic>
      <p:sp>
        <p:nvSpPr>
          <p:cNvPr id="19" name="Text 14"/>
          <p:cNvSpPr/>
          <p:nvPr/>
        </p:nvSpPr>
        <p:spPr>
          <a:xfrm>
            <a:off x="6995160" y="4206240"/>
            <a:ext cx="2743200" cy="320040"/>
          </a:xfrm>
          <a:prstGeom prst="rect">
            <a:avLst/>
          </a:prstGeom>
          <a:noFill/>
          <a:ln/>
        </p:spPr>
        <p:txBody>
          <a:bodyPr wrap="square" lIns="0" tIns="0" rIns="0" bIns="0" rtlCol="0" anchor="ctr"/>
          <a:lstStyle/>
          <a:p>
            <a:pPr indent="0" marL="0">
              <a:buNone/>
            </a:pPr>
            <a:r>
              <a:rPr lang="en-US" sz="1100" b="1" spc="300" kern="0" dirty="0">
                <a:solidFill>
                  <a:srgbClr val="DC2626"/>
                </a:solidFill>
              </a:rPr>
              <a:t>CONS / RISKS</a:t>
            </a:r>
            <a:endParaRPr lang="en-US" sz="1100" dirty="0"/>
          </a:p>
        </p:txBody>
      </p:sp>
      <p:sp>
        <p:nvSpPr>
          <p:cNvPr id="20" name="Text 15"/>
          <p:cNvSpPr/>
          <p:nvPr/>
        </p:nvSpPr>
        <p:spPr>
          <a:xfrm>
            <a:off x="6629400" y="4617720"/>
            <a:ext cx="4754880" cy="1554480"/>
          </a:xfrm>
          <a:prstGeom prst="rect">
            <a:avLst/>
          </a:prstGeom>
          <a:noFill/>
          <a:ln/>
        </p:spPr>
        <p:txBody>
          <a:bodyPr wrap="square" rtlCol="0" anchor="t"/>
          <a:lstStyle/>
          <a:p>
            <a:pPr marL="342900" indent="-342900">
              <a:spcAft>
                <a:spcPts val="500"/>
              </a:spcAft>
              <a:buSzPct val="100000"/>
              <a:buChar char="•"/>
            </a:pPr>
            <a:r>
              <a:rPr lang="en-US" sz="1200" dirty="0">
                <a:solidFill>
                  <a:srgbClr val="0F172A"/>
                </a:solidFill>
              </a:rPr>
              <a:t>Overlaps with Track 2 (papers are also style-organized)</a:t>
            </a:r>
            <a:endParaRPr lang="en-US" sz="1200" dirty="0"/>
          </a:p>
          <a:p>
            <a:pPr marL="342900" indent="-342900">
              <a:spcAft>
                <a:spcPts val="500"/>
              </a:spcAft>
              <a:buSzPct val="100000"/>
              <a:buChar char="•"/>
            </a:pPr>
            <a:r>
              <a:rPr lang="en-US" sz="1200" dirty="0">
                <a:solidFill>
                  <a:srgbClr val="0F172A"/>
                </a:solidFill>
              </a:rPr>
              <a:t>Real alpha is often hybrid (e.g. seasonality + carry)</a:t>
            </a:r>
            <a:endParaRPr lang="en-US" sz="1200" dirty="0"/>
          </a:p>
          <a:p>
            <a:pPr marL="342900" indent="-342900">
              <a:spcAft>
                <a:spcPts val="500"/>
              </a:spcAft>
              <a:buSzPct val="100000"/>
              <a:buChar char="•"/>
            </a:pPr>
            <a:r>
              <a:rPr lang="en-US" sz="1200" dirty="0">
                <a:solidFill>
                  <a:srgbClr val="0F172A"/>
                </a:solidFill>
              </a:rPr>
              <a:t>Boundaries between styles are partly artificial</a:t>
            </a:r>
            <a:endParaRPr lang="en-US" sz="1200" dirty="0"/>
          </a:p>
        </p:txBody>
      </p:sp>
      <p:sp>
        <p:nvSpPr>
          <p:cNvPr id="21" name="Text 16"/>
          <p:cNvSpPr/>
          <p:nvPr/>
        </p:nvSpPr>
        <p:spPr>
          <a:xfrm>
            <a:off x="11430000" y="6446520"/>
            <a:ext cx="640080" cy="274320"/>
          </a:xfrm>
          <a:prstGeom prst="rect">
            <a:avLst/>
          </a:prstGeom>
          <a:noFill/>
          <a:ln/>
        </p:spPr>
        <p:txBody>
          <a:bodyPr wrap="square" lIns="0" tIns="0" rIns="0" bIns="0" rtlCol="0" anchor="ctr"/>
          <a:lstStyle/>
          <a:p>
            <a:pPr algn="r" indent="0" marL="0">
              <a:buNone/>
            </a:pPr>
            <a:r>
              <a:rPr lang="en-US" sz="900" dirty="0">
                <a:solidFill>
                  <a:srgbClr val="475569"/>
                </a:solidFill>
              </a:rPr>
              <a:t>6 / 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b="1" spc="400" kern="0" dirty="0">
                <a:solidFill>
                  <a:srgbClr val="00C2A8"/>
                </a:solidFill>
                <a:latin typeface="Calibri" pitchFamily="34" charset="0"/>
                <a:ea typeface="Calibri" pitchFamily="34" charset="-122"/>
                <a:cs typeface="Calibri" pitchFamily="34" charset="-120"/>
              </a:rPr>
              <a:t>COMPARISON</a:t>
            </a:r>
            <a:endParaRPr lang="en-US" sz="1100" dirty="0"/>
          </a:p>
        </p:txBody>
      </p:sp>
      <p:sp>
        <p:nvSpPr>
          <p:cNvPr id="3" name="Text 1"/>
          <p:cNvSpPr/>
          <p:nvPr/>
        </p:nvSpPr>
        <p:spPr>
          <a:xfrm>
            <a:off x="548640" y="713232"/>
            <a:ext cx="11155680" cy="64008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Pros / cons at a glance</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55680" cy="914400"/>
        </p:xfrm>
        <a:graphic>
          <a:graphicData uri="http://schemas.openxmlformats.org/drawingml/2006/table">
            <a:tbl>
              <a:tblPr/>
              <a:tblGrid>
                <a:gridCol w="2743200"/>
                <a:gridCol w="2331720"/>
                <a:gridCol w="2331720"/>
                <a:gridCol w="2331720"/>
                <a:gridCol w="2331720"/>
              </a:tblGrid>
              <a:tr h="502920">
                <a:tc>
                  <a:txBody>
                    <a:bodyPr/>
                    <a:lstStyle/>
                    <a:p>
                      <a:pPr algn="ctr" indent="0" marL="0">
                        <a:buNone/>
                      </a:pPr>
                      <a:endParaRPr lang="en-US" sz="1200" dirty="0"/>
                    </a:p>
                  </a:txBody>
                  <a:tcPr marL="50800" marR="508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200" b="1" dirty="0">
                          <a:solidFill>
                            <a:srgbClr val="FFFFFF"/>
                          </a:solidFill>
                        </a:rPr>
                        <a:t>Track 1</a:t>
                      </a:r>
                      <a:endParaRPr lang="en-US" sz="1200" dirty="0"/>
                    </a:p>
                    <a:p>
                      <a:pPr algn="ctr" indent="0" marL="0">
                        <a:buNone/>
                      </a:pPr>
                      <a:r>
                        <a:rPr lang="en-US" sz="1200" b="1" dirty="0">
                          <a:solidFill>
                            <a:srgbClr val="FFFFFF"/>
                          </a:solidFill>
                        </a:rPr>
                        <a:t>Price Discovery</a:t>
                      </a:r>
                      <a:endParaRPr lang="en-US" sz="1200" dirty="0"/>
                    </a:p>
                  </a:txBody>
                  <a:tcPr marL="50800" marR="508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EA5E9"/>
                    </a:solidFill>
                  </a:tcPr>
                </a:tc>
                <a:tc>
                  <a:txBody>
                    <a:bodyPr/>
                    <a:lstStyle/>
                    <a:p>
                      <a:pPr algn="ctr" indent="0" marL="0">
                        <a:buNone/>
                      </a:pPr>
                      <a:r>
                        <a:rPr lang="en-US" sz="1200" b="1" dirty="0">
                          <a:solidFill>
                            <a:srgbClr val="FFFFFF"/>
                          </a:solidFill>
                        </a:rPr>
                        <a:t>Track 2</a:t>
                      </a:r>
                      <a:endParaRPr lang="en-US" sz="1200" dirty="0"/>
                    </a:p>
                    <a:p>
                      <a:pPr algn="ctr" indent="0" marL="0">
                        <a:buNone/>
                      </a:pPr>
                      <a:r>
                        <a:rPr lang="en-US" sz="1200" b="1" dirty="0">
                          <a:solidFill>
                            <a:srgbClr val="FFFFFF"/>
                          </a:solidFill>
                        </a:rPr>
                        <a:t>Paper-Induced</a:t>
                      </a:r>
                      <a:endParaRPr lang="en-US" sz="1200" dirty="0"/>
                    </a:p>
                  </a:txBody>
                  <a:tcPr marL="50800" marR="508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5CF6"/>
                    </a:solidFill>
                  </a:tcPr>
                </a:tc>
                <a:tc>
                  <a:txBody>
                    <a:bodyPr/>
                    <a:lstStyle/>
                    <a:p>
                      <a:pPr algn="ctr" indent="0" marL="0">
                        <a:buNone/>
                      </a:pPr>
                      <a:r>
                        <a:rPr lang="en-US" sz="1200" b="1" dirty="0">
                          <a:solidFill>
                            <a:srgbClr val="FFFFFF"/>
                          </a:solidFill>
                        </a:rPr>
                        <a:t>Track 3</a:t>
                      </a:r>
                      <a:endParaRPr lang="en-US" sz="1200" dirty="0"/>
                    </a:p>
                    <a:p>
                      <a:pPr algn="ctr" indent="0" marL="0">
                        <a:buNone/>
                      </a:pPr>
                      <a:r>
                        <a:rPr lang="en-US" sz="1200" b="1" dirty="0">
                          <a:solidFill>
                            <a:srgbClr val="FFFFFF"/>
                          </a:solidFill>
                        </a:rPr>
                        <a:t>Commodity Experts</a:t>
                      </a:r>
                      <a:endParaRPr lang="en-US" sz="1200" dirty="0"/>
                    </a:p>
                  </a:txBody>
                  <a:tcPr marL="50800" marR="508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9E0B"/>
                    </a:solidFill>
                  </a:tcPr>
                </a:tc>
                <a:tc>
                  <a:txBody>
                    <a:bodyPr/>
                    <a:lstStyle/>
                    <a:p>
                      <a:pPr algn="ctr" indent="0" marL="0">
                        <a:buNone/>
                      </a:pPr>
                      <a:r>
                        <a:rPr lang="en-US" sz="1200" b="1" dirty="0">
                          <a:solidFill>
                            <a:srgbClr val="FFFFFF"/>
                          </a:solidFill>
                        </a:rPr>
                        <a:t>Track 4</a:t>
                      </a:r>
                      <a:endParaRPr lang="en-US" sz="1200" dirty="0"/>
                    </a:p>
                    <a:p>
                      <a:pPr algn="ctr" indent="0" marL="0">
                        <a:buNone/>
                      </a:pPr>
                      <a:r>
                        <a:rPr lang="en-US" sz="1200" b="1" dirty="0">
                          <a:solidFill>
                            <a:srgbClr val="FFFFFF"/>
                          </a:solidFill>
                        </a:rPr>
                        <a:t>Strategy Archetypes</a:t>
                      </a:r>
                      <a:endParaRPr lang="en-US" sz="1200" dirty="0"/>
                    </a:p>
                  </a:txBody>
                  <a:tcPr marL="50800" marR="508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0B981"/>
                    </a:solidFill>
                  </a:tcPr>
                </a:tc>
              </a:tr>
              <a:tr h="502920">
                <a:tc>
                  <a:txBody>
                    <a:bodyPr/>
                    <a:lstStyle/>
                    <a:p>
                      <a:pPr algn="l" indent="0" marL="0">
                        <a:buNone/>
                      </a:pPr>
                      <a:r>
                        <a:rPr lang="en-US" sz="1150" b="1" dirty="0">
                          <a:solidFill>
                            <a:srgbClr val="0F172A"/>
                          </a:solidFill>
                        </a:rPr>
                        <a:t>Source of ideas</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Pure data mining</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Academic literature</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Domain + alt data</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Style taxonomy</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0F172A"/>
                          </a:solidFill>
                        </a:rPr>
                        <a:t>Overfitting risk</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High</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Low–Medium</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Medium</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Medium</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r>
              <a:tr h="502920">
                <a:tc>
                  <a:txBody>
                    <a:bodyPr/>
                    <a:lstStyle/>
                    <a:p>
                      <a:pPr algn="l" indent="0" marL="0">
                        <a:buNone/>
                      </a:pPr>
                      <a:r>
                        <a:rPr lang="en-US" sz="1150" b="1" dirty="0">
                          <a:solidFill>
                            <a:srgbClr val="0F172A"/>
                          </a:solidFill>
                        </a:rPr>
                        <a:t>Economic story</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Weak by default</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Strong (built-in)</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Strong (domain)</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Medium</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0F172A"/>
                          </a:solidFill>
                        </a:rPr>
                        <a:t>Leverages our edge</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Limited</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Medium</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High (Kpler / weather)</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Medium</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r>
              <a:tr h="502920">
                <a:tc>
                  <a:txBody>
                    <a:bodyPr/>
                    <a:lstStyle/>
                    <a:p>
                      <a:pPr algn="l" indent="0" marL="0">
                        <a:buNone/>
                      </a:pPr>
                      <a:r>
                        <a:rPr lang="en-US" sz="1150" b="1" dirty="0">
                          <a:solidFill>
                            <a:srgbClr val="0F172A"/>
                          </a:solidFill>
                        </a:rPr>
                        <a:t>Infra cost</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Low</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Low</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High (4 stacks)</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F172A"/>
                          </a:solidFill>
                        </a:rPr>
                        <a:t>Medium</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0F172A"/>
                          </a:solidFill>
                        </a:rPr>
                        <a:t>Cross-asset signals</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Yes</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Yes</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Missed by design</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150" dirty="0">
                          <a:solidFill>
                            <a:srgbClr val="0F172A"/>
                          </a:solidFill>
                        </a:rPr>
                        <a:t>Yes</a:t>
                      </a:r>
                      <a:endParaRPr lang="en-US" sz="1150" dirty="0"/>
                    </a:p>
                  </a:txBody>
                  <a:tcPr marL="101600" marR="1016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r>
            </a:tbl>
          </a:graphicData>
        </a:graphic>
      </p:graphicFrame>
      <p:sp>
        <p:nvSpPr>
          <p:cNvPr id="5" name="Text 2"/>
          <p:cNvSpPr/>
          <p:nvPr/>
        </p:nvSpPr>
        <p:spPr>
          <a:xfrm>
            <a:off x="548640" y="6035040"/>
            <a:ext cx="10972800" cy="274320"/>
          </a:xfrm>
          <a:prstGeom prst="rect">
            <a:avLst/>
          </a:prstGeom>
          <a:noFill/>
          <a:ln/>
        </p:spPr>
        <p:txBody>
          <a:bodyPr wrap="square" lIns="0" tIns="0" rIns="0" bIns="0" rtlCol="0" anchor="ctr"/>
          <a:lstStyle/>
          <a:p>
            <a:pPr indent="0" marL="0">
              <a:buNone/>
            </a:pPr>
            <a:r>
              <a:rPr lang="en-US" sz="1000" i="1" dirty="0">
                <a:solidFill>
                  <a:srgbClr val="475569"/>
                </a:solidFill>
              </a:rPr>
              <a:t>Cells reflect baseline assessment; actual risk depends on guard-rails (Critic Agent, OOS holdouts, common backtest harness).</a:t>
            </a:r>
            <a:endParaRPr lang="en-US" sz="1000" dirty="0"/>
          </a:p>
        </p:txBody>
      </p:sp>
      <p:sp>
        <p:nvSpPr>
          <p:cNvPr id="6" name="Text 3"/>
          <p:cNvSpPr/>
          <p:nvPr/>
        </p:nvSpPr>
        <p:spPr>
          <a:xfrm>
            <a:off x="11430000" y="6446520"/>
            <a:ext cx="640080" cy="274320"/>
          </a:xfrm>
          <a:prstGeom prst="rect">
            <a:avLst/>
          </a:prstGeom>
          <a:noFill/>
          <a:ln/>
        </p:spPr>
        <p:txBody>
          <a:bodyPr wrap="square" lIns="0" tIns="0" rIns="0" bIns="0" rtlCol="0" anchor="ctr"/>
          <a:lstStyle/>
          <a:p>
            <a:pPr algn="r" indent="0" marL="0">
              <a:buNone/>
            </a:pPr>
            <a:r>
              <a:rPr lang="en-US" sz="900" dirty="0">
                <a:solidFill>
                  <a:srgbClr val="475569"/>
                </a:solidFill>
              </a:rPr>
              <a:t>7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indent="0" marL="0">
              <a:buNone/>
            </a:pPr>
            <a:r>
              <a:rPr lang="en-US" sz="1100" b="1" spc="400" kern="0" dirty="0">
                <a:solidFill>
                  <a:srgbClr val="00C2A8"/>
                </a:solidFill>
                <a:latin typeface="Calibri" pitchFamily="34" charset="0"/>
                <a:ea typeface="Calibri" pitchFamily="34" charset="-122"/>
                <a:cs typeface="Calibri" pitchFamily="34" charset="-120"/>
              </a:rPr>
              <a:t>RECOMMENDATION</a:t>
            </a:r>
            <a:endParaRPr lang="en-US" sz="1100" dirty="0"/>
          </a:p>
        </p:txBody>
      </p:sp>
      <p:sp>
        <p:nvSpPr>
          <p:cNvPr id="3" name="Text 1"/>
          <p:cNvSpPr/>
          <p:nvPr/>
        </p:nvSpPr>
        <p:spPr>
          <a:xfrm>
            <a:off x="548640" y="713232"/>
            <a:ext cx="11155680" cy="64008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Run all four — allocate capacity asymmetrically</a:t>
            </a:r>
            <a:endParaRPr lang="en-US" sz="2800" dirty="0"/>
          </a:p>
        </p:txBody>
      </p:sp>
      <p:sp>
        <p:nvSpPr>
          <p:cNvPr id="4" name="Shape 2"/>
          <p:cNvSpPr/>
          <p:nvPr/>
        </p:nvSpPr>
        <p:spPr>
          <a:xfrm>
            <a:off x="548640" y="1554480"/>
            <a:ext cx="2788920" cy="246888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8000"/>
              </a:srgbClr>
            </a:outerShdw>
          </a:effectLst>
        </p:spPr>
      </p:sp>
      <p:sp>
        <p:nvSpPr>
          <p:cNvPr id="5" name="Shape 3"/>
          <p:cNvSpPr/>
          <p:nvPr/>
        </p:nvSpPr>
        <p:spPr>
          <a:xfrm>
            <a:off x="548640" y="1554480"/>
            <a:ext cx="2788920" cy="91440"/>
          </a:xfrm>
          <a:prstGeom prst="rect">
            <a:avLst/>
          </a:prstGeom>
          <a:solidFill>
            <a:srgbClr val="0EA5E9"/>
          </a:solidFill>
          <a:ln w="12700">
            <a:solidFill>
              <a:srgbClr val="333333"/>
            </a:solidFill>
            <a:prstDash val="solid"/>
          </a:ln>
        </p:spPr>
      </p:sp>
      <p:sp>
        <p:nvSpPr>
          <p:cNvPr id="6" name="Text 4"/>
          <p:cNvSpPr/>
          <p:nvPr/>
        </p:nvSpPr>
        <p:spPr>
          <a:xfrm>
            <a:off x="777240" y="1783080"/>
            <a:ext cx="1828800" cy="274320"/>
          </a:xfrm>
          <a:prstGeom prst="rect">
            <a:avLst/>
          </a:prstGeom>
          <a:noFill/>
          <a:ln/>
        </p:spPr>
        <p:txBody>
          <a:bodyPr wrap="square" lIns="0" tIns="0" rIns="0" bIns="0" rtlCol="0" anchor="ctr"/>
          <a:lstStyle/>
          <a:p>
            <a:pPr indent="0" marL="0">
              <a:buNone/>
            </a:pPr>
            <a:r>
              <a:rPr lang="en-US" sz="1000" b="1" spc="300" kern="0" dirty="0">
                <a:solidFill>
                  <a:srgbClr val="0EA5E9"/>
                </a:solidFill>
              </a:rPr>
              <a:t>TRACK 1</a:t>
            </a:r>
            <a:endParaRPr lang="en-US" sz="1000" dirty="0"/>
          </a:p>
        </p:txBody>
      </p:sp>
      <p:sp>
        <p:nvSpPr>
          <p:cNvPr id="7" name="Text 5"/>
          <p:cNvSpPr/>
          <p:nvPr/>
        </p:nvSpPr>
        <p:spPr>
          <a:xfrm>
            <a:off x="777240" y="2057400"/>
            <a:ext cx="2423160" cy="54864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Price Discovery</a:t>
            </a:r>
            <a:endParaRPr lang="en-US" sz="1600" dirty="0"/>
          </a:p>
        </p:txBody>
      </p:sp>
      <p:sp>
        <p:nvSpPr>
          <p:cNvPr id="8" name="Text 6"/>
          <p:cNvSpPr/>
          <p:nvPr/>
        </p:nvSpPr>
        <p:spPr>
          <a:xfrm>
            <a:off x="777240" y="2651760"/>
            <a:ext cx="2423160" cy="640080"/>
          </a:xfrm>
          <a:prstGeom prst="rect">
            <a:avLst/>
          </a:prstGeom>
          <a:noFill/>
          <a:ln/>
        </p:spPr>
        <p:txBody>
          <a:bodyPr wrap="square" lIns="0" tIns="0" rIns="0" bIns="0" rtlCol="0" anchor="ctr"/>
          <a:lstStyle/>
          <a:p>
            <a:pPr indent="0" marL="0">
              <a:buNone/>
            </a:pPr>
            <a:r>
              <a:rPr lang="en-US" sz="3600" b="1" dirty="0">
                <a:solidFill>
                  <a:srgbClr val="0EA5E9"/>
                </a:solidFill>
                <a:latin typeface="Georgia" pitchFamily="34" charset="0"/>
                <a:ea typeface="Georgia" pitchFamily="34" charset="-122"/>
                <a:cs typeface="Georgia" pitchFamily="34" charset="-120"/>
              </a:rPr>
              <a:t>15%</a:t>
            </a:r>
            <a:endParaRPr lang="en-US" sz="3600" dirty="0"/>
          </a:p>
        </p:txBody>
      </p:sp>
      <p:sp>
        <p:nvSpPr>
          <p:cNvPr id="9" name="Text 7"/>
          <p:cNvSpPr/>
          <p:nvPr/>
        </p:nvSpPr>
        <p:spPr>
          <a:xfrm>
            <a:off x="777240" y="3246120"/>
            <a:ext cx="2423160" cy="228600"/>
          </a:xfrm>
          <a:prstGeom prst="rect">
            <a:avLst/>
          </a:prstGeom>
          <a:noFill/>
          <a:ln/>
        </p:spPr>
        <p:txBody>
          <a:bodyPr wrap="square" lIns="0" tIns="0" rIns="0" bIns="0" rtlCol="0" anchor="ctr"/>
          <a:lstStyle/>
          <a:p>
            <a:pPr indent="0" marL="0">
              <a:buNone/>
            </a:pPr>
            <a:r>
              <a:rPr lang="en-US" sz="950" b="1" spc="300" kern="0" dirty="0">
                <a:solidFill>
                  <a:srgbClr val="475569"/>
                </a:solidFill>
              </a:rPr>
              <a:t>LIGHT</a:t>
            </a:r>
            <a:endParaRPr lang="en-US" sz="950" dirty="0"/>
          </a:p>
        </p:txBody>
      </p:sp>
      <p:sp>
        <p:nvSpPr>
          <p:cNvPr id="10" name="Text 8"/>
          <p:cNvSpPr/>
          <p:nvPr/>
        </p:nvSpPr>
        <p:spPr>
          <a:xfrm>
            <a:off x="777240" y="3520440"/>
            <a:ext cx="2423160" cy="457200"/>
          </a:xfrm>
          <a:prstGeom prst="rect">
            <a:avLst/>
          </a:prstGeom>
          <a:noFill/>
          <a:ln/>
        </p:spPr>
        <p:txBody>
          <a:bodyPr wrap="square" lIns="0" tIns="0" rIns="0" bIns="0" rtlCol="0" anchor="ctr"/>
          <a:lstStyle/>
          <a:p>
            <a:pPr indent="0" marL="0">
              <a:buNone/>
            </a:pPr>
            <a:r>
              <a:rPr lang="en-US" sz="1100" i="1" dirty="0">
                <a:solidFill>
                  <a:srgbClr val="0F172A"/>
                </a:solidFill>
              </a:rPr>
              <a:t>Cheap to run; flag novel patterns</a:t>
            </a:r>
            <a:endParaRPr lang="en-US" sz="1100" dirty="0"/>
          </a:p>
        </p:txBody>
      </p:sp>
      <p:sp>
        <p:nvSpPr>
          <p:cNvPr id="11" name="Shape 9"/>
          <p:cNvSpPr/>
          <p:nvPr/>
        </p:nvSpPr>
        <p:spPr>
          <a:xfrm>
            <a:off x="3456432" y="1554480"/>
            <a:ext cx="2788920" cy="246888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8000"/>
              </a:srgbClr>
            </a:outerShdw>
          </a:effectLst>
        </p:spPr>
      </p:sp>
      <p:sp>
        <p:nvSpPr>
          <p:cNvPr id="12" name="Shape 10"/>
          <p:cNvSpPr/>
          <p:nvPr/>
        </p:nvSpPr>
        <p:spPr>
          <a:xfrm>
            <a:off x="3456432" y="1554480"/>
            <a:ext cx="2788920" cy="91440"/>
          </a:xfrm>
          <a:prstGeom prst="rect">
            <a:avLst/>
          </a:prstGeom>
          <a:solidFill>
            <a:srgbClr val="8B5CF6"/>
          </a:solidFill>
          <a:ln w="12700">
            <a:solidFill>
              <a:srgbClr val="333333"/>
            </a:solidFill>
            <a:prstDash val="solid"/>
          </a:ln>
        </p:spPr>
      </p:sp>
      <p:sp>
        <p:nvSpPr>
          <p:cNvPr id="13" name="Text 11"/>
          <p:cNvSpPr/>
          <p:nvPr/>
        </p:nvSpPr>
        <p:spPr>
          <a:xfrm>
            <a:off x="3685032" y="1783080"/>
            <a:ext cx="1828800" cy="274320"/>
          </a:xfrm>
          <a:prstGeom prst="rect">
            <a:avLst/>
          </a:prstGeom>
          <a:noFill/>
          <a:ln/>
        </p:spPr>
        <p:txBody>
          <a:bodyPr wrap="square" lIns="0" tIns="0" rIns="0" bIns="0" rtlCol="0" anchor="ctr"/>
          <a:lstStyle/>
          <a:p>
            <a:pPr indent="0" marL="0">
              <a:buNone/>
            </a:pPr>
            <a:r>
              <a:rPr lang="en-US" sz="1000" b="1" spc="300" kern="0" dirty="0">
                <a:solidFill>
                  <a:srgbClr val="8B5CF6"/>
                </a:solidFill>
              </a:rPr>
              <a:t>TRACK 2</a:t>
            </a:r>
            <a:endParaRPr lang="en-US" sz="1000" dirty="0"/>
          </a:p>
        </p:txBody>
      </p:sp>
      <p:sp>
        <p:nvSpPr>
          <p:cNvPr id="14" name="Text 12"/>
          <p:cNvSpPr/>
          <p:nvPr/>
        </p:nvSpPr>
        <p:spPr>
          <a:xfrm>
            <a:off x="3685032" y="2057400"/>
            <a:ext cx="2423160" cy="54864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Paper-Induced</a:t>
            </a:r>
            <a:endParaRPr lang="en-US" sz="1600" dirty="0"/>
          </a:p>
        </p:txBody>
      </p:sp>
      <p:sp>
        <p:nvSpPr>
          <p:cNvPr id="15" name="Text 13"/>
          <p:cNvSpPr/>
          <p:nvPr/>
        </p:nvSpPr>
        <p:spPr>
          <a:xfrm>
            <a:off x="3685032" y="2651760"/>
            <a:ext cx="2423160" cy="640080"/>
          </a:xfrm>
          <a:prstGeom prst="rect">
            <a:avLst/>
          </a:prstGeom>
          <a:noFill/>
          <a:ln/>
        </p:spPr>
        <p:txBody>
          <a:bodyPr wrap="square" lIns="0" tIns="0" rIns="0" bIns="0" rtlCol="0" anchor="ctr"/>
          <a:lstStyle/>
          <a:p>
            <a:pPr indent="0" marL="0">
              <a:buNone/>
            </a:pPr>
            <a:r>
              <a:rPr lang="en-US" sz="3600" b="1" dirty="0">
                <a:solidFill>
                  <a:srgbClr val="8B5CF6"/>
                </a:solidFill>
                <a:latin typeface="Georgia" pitchFamily="34" charset="0"/>
                <a:ea typeface="Georgia" pitchFamily="34" charset="-122"/>
                <a:cs typeface="Georgia" pitchFamily="34" charset="-120"/>
              </a:rPr>
              <a:t>30%</a:t>
            </a:r>
            <a:endParaRPr lang="en-US" sz="3600" dirty="0"/>
          </a:p>
        </p:txBody>
      </p:sp>
      <p:sp>
        <p:nvSpPr>
          <p:cNvPr id="16" name="Text 14"/>
          <p:cNvSpPr/>
          <p:nvPr/>
        </p:nvSpPr>
        <p:spPr>
          <a:xfrm>
            <a:off x="3685032" y="3246120"/>
            <a:ext cx="2423160" cy="228600"/>
          </a:xfrm>
          <a:prstGeom prst="rect">
            <a:avLst/>
          </a:prstGeom>
          <a:noFill/>
          <a:ln/>
        </p:spPr>
        <p:txBody>
          <a:bodyPr wrap="square" lIns="0" tIns="0" rIns="0" bIns="0" rtlCol="0" anchor="ctr"/>
          <a:lstStyle/>
          <a:p>
            <a:pPr indent="0" marL="0">
              <a:buNone/>
            </a:pPr>
            <a:r>
              <a:rPr lang="en-US" sz="950" b="1" spc="300" kern="0" dirty="0">
                <a:solidFill>
                  <a:srgbClr val="475569"/>
                </a:solidFill>
              </a:rPr>
              <a:t>HEAVY</a:t>
            </a:r>
            <a:endParaRPr lang="en-US" sz="950" dirty="0"/>
          </a:p>
        </p:txBody>
      </p:sp>
      <p:sp>
        <p:nvSpPr>
          <p:cNvPr id="17" name="Text 15"/>
          <p:cNvSpPr/>
          <p:nvPr/>
        </p:nvSpPr>
        <p:spPr>
          <a:xfrm>
            <a:off x="3685032" y="3520440"/>
            <a:ext cx="2423160" cy="457200"/>
          </a:xfrm>
          <a:prstGeom prst="rect">
            <a:avLst/>
          </a:prstGeom>
          <a:noFill/>
          <a:ln/>
        </p:spPr>
        <p:txBody>
          <a:bodyPr wrap="square" lIns="0" tIns="0" rIns="0" bIns="0" rtlCol="0" anchor="ctr"/>
          <a:lstStyle/>
          <a:p>
            <a:pPr indent="0" marL="0">
              <a:buNone/>
            </a:pPr>
            <a:r>
              <a:rPr lang="en-US" sz="1100" i="1" dirty="0">
                <a:solidFill>
                  <a:srgbClr val="0F172A"/>
                </a:solidFill>
              </a:rPr>
              <a:t>Defensible; PM-ready stories</a:t>
            </a:r>
            <a:endParaRPr lang="en-US" sz="1100" dirty="0"/>
          </a:p>
        </p:txBody>
      </p:sp>
      <p:sp>
        <p:nvSpPr>
          <p:cNvPr id="18" name="Shape 16"/>
          <p:cNvSpPr/>
          <p:nvPr/>
        </p:nvSpPr>
        <p:spPr>
          <a:xfrm>
            <a:off x="6364224" y="1554480"/>
            <a:ext cx="2788920" cy="246888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8000"/>
              </a:srgbClr>
            </a:outerShdw>
          </a:effectLst>
        </p:spPr>
      </p:sp>
      <p:sp>
        <p:nvSpPr>
          <p:cNvPr id="19" name="Shape 17"/>
          <p:cNvSpPr/>
          <p:nvPr/>
        </p:nvSpPr>
        <p:spPr>
          <a:xfrm>
            <a:off x="6364224" y="1554480"/>
            <a:ext cx="2788920" cy="91440"/>
          </a:xfrm>
          <a:prstGeom prst="rect">
            <a:avLst/>
          </a:prstGeom>
          <a:solidFill>
            <a:srgbClr val="F59E0B"/>
          </a:solidFill>
          <a:ln w="12700">
            <a:solidFill>
              <a:srgbClr val="333333"/>
            </a:solidFill>
            <a:prstDash val="solid"/>
          </a:ln>
        </p:spPr>
      </p:sp>
      <p:sp>
        <p:nvSpPr>
          <p:cNvPr id="20" name="Text 18"/>
          <p:cNvSpPr/>
          <p:nvPr/>
        </p:nvSpPr>
        <p:spPr>
          <a:xfrm>
            <a:off x="6592824" y="1783080"/>
            <a:ext cx="1828800" cy="274320"/>
          </a:xfrm>
          <a:prstGeom prst="rect">
            <a:avLst/>
          </a:prstGeom>
          <a:noFill/>
          <a:ln/>
        </p:spPr>
        <p:txBody>
          <a:bodyPr wrap="square" lIns="0" tIns="0" rIns="0" bIns="0" rtlCol="0" anchor="ctr"/>
          <a:lstStyle/>
          <a:p>
            <a:pPr indent="0" marL="0">
              <a:buNone/>
            </a:pPr>
            <a:r>
              <a:rPr lang="en-US" sz="1000" b="1" spc="300" kern="0" dirty="0">
                <a:solidFill>
                  <a:srgbClr val="F59E0B"/>
                </a:solidFill>
              </a:rPr>
              <a:t>TRACK 3</a:t>
            </a:r>
            <a:endParaRPr lang="en-US" sz="1000" dirty="0"/>
          </a:p>
        </p:txBody>
      </p:sp>
      <p:sp>
        <p:nvSpPr>
          <p:cNvPr id="21" name="Text 19"/>
          <p:cNvSpPr/>
          <p:nvPr/>
        </p:nvSpPr>
        <p:spPr>
          <a:xfrm>
            <a:off x="6592824" y="2057400"/>
            <a:ext cx="2423160" cy="54864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Commodity Experts</a:t>
            </a:r>
            <a:endParaRPr lang="en-US" sz="1600" dirty="0"/>
          </a:p>
        </p:txBody>
      </p:sp>
      <p:sp>
        <p:nvSpPr>
          <p:cNvPr id="22" name="Text 20"/>
          <p:cNvSpPr/>
          <p:nvPr/>
        </p:nvSpPr>
        <p:spPr>
          <a:xfrm>
            <a:off x="6592824" y="2651760"/>
            <a:ext cx="2423160" cy="640080"/>
          </a:xfrm>
          <a:prstGeom prst="rect">
            <a:avLst/>
          </a:prstGeom>
          <a:noFill/>
          <a:ln/>
        </p:spPr>
        <p:txBody>
          <a:bodyPr wrap="square" lIns="0" tIns="0" rIns="0" bIns="0" rtlCol="0" anchor="ctr"/>
          <a:lstStyle/>
          <a:p>
            <a:pPr indent="0" marL="0">
              <a:buNone/>
            </a:pPr>
            <a:r>
              <a:rPr lang="en-US" sz="3600" b="1" dirty="0">
                <a:solidFill>
                  <a:srgbClr val="F59E0B"/>
                </a:solidFill>
                <a:latin typeface="Georgia" pitchFamily="34" charset="0"/>
                <a:ea typeface="Georgia" pitchFamily="34" charset="-122"/>
                <a:cs typeface="Georgia" pitchFamily="34" charset="-120"/>
              </a:rPr>
              <a:t>35%</a:t>
            </a:r>
            <a:endParaRPr lang="en-US" sz="3600" dirty="0"/>
          </a:p>
        </p:txBody>
      </p:sp>
      <p:sp>
        <p:nvSpPr>
          <p:cNvPr id="23" name="Text 21"/>
          <p:cNvSpPr/>
          <p:nvPr/>
        </p:nvSpPr>
        <p:spPr>
          <a:xfrm>
            <a:off x="6592824" y="3246120"/>
            <a:ext cx="2423160" cy="228600"/>
          </a:xfrm>
          <a:prstGeom prst="rect">
            <a:avLst/>
          </a:prstGeom>
          <a:noFill/>
          <a:ln/>
        </p:spPr>
        <p:txBody>
          <a:bodyPr wrap="square" lIns="0" tIns="0" rIns="0" bIns="0" rtlCol="0" anchor="ctr"/>
          <a:lstStyle/>
          <a:p>
            <a:pPr indent="0" marL="0">
              <a:buNone/>
            </a:pPr>
            <a:r>
              <a:rPr lang="en-US" sz="950" b="1" spc="300" kern="0" dirty="0">
                <a:solidFill>
                  <a:srgbClr val="475569"/>
                </a:solidFill>
              </a:rPr>
              <a:t>HEAVY</a:t>
            </a:r>
            <a:endParaRPr lang="en-US" sz="950" dirty="0"/>
          </a:p>
        </p:txBody>
      </p:sp>
      <p:sp>
        <p:nvSpPr>
          <p:cNvPr id="24" name="Text 22"/>
          <p:cNvSpPr/>
          <p:nvPr/>
        </p:nvSpPr>
        <p:spPr>
          <a:xfrm>
            <a:off x="6592824" y="3520440"/>
            <a:ext cx="2423160" cy="457200"/>
          </a:xfrm>
          <a:prstGeom prst="rect">
            <a:avLst/>
          </a:prstGeom>
          <a:noFill/>
          <a:ln/>
        </p:spPr>
        <p:txBody>
          <a:bodyPr wrap="square" lIns="0" tIns="0" rIns="0" bIns="0" rtlCol="0" anchor="ctr"/>
          <a:lstStyle/>
          <a:p>
            <a:pPr indent="0" marL="0">
              <a:buNone/>
            </a:pPr>
            <a:r>
              <a:rPr lang="en-US" sz="1100" i="1" dirty="0">
                <a:solidFill>
                  <a:srgbClr val="0F172A"/>
                </a:solidFill>
              </a:rPr>
              <a:t>Where our alt-data edge lives</a:t>
            </a:r>
            <a:endParaRPr lang="en-US" sz="1100" dirty="0"/>
          </a:p>
        </p:txBody>
      </p:sp>
      <p:sp>
        <p:nvSpPr>
          <p:cNvPr id="25" name="Shape 23"/>
          <p:cNvSpPr/>
          <p:nvPr/>
        </p:nvSpPr>
        <p:spPr>
          <a:xfrm>
            <a:off x="9272016" y="1554480"/>
            <a:ext cx="2788920" cy="246888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8000"/>
              </a:srgbClr>
            </a:outerShdw>
          </a:effectLst>
        </p:spPr>
      </p:sp>
      <p:sp>
        <p:nvSpPr>
          <p:cNvPr id="26" name="Shape 24"/>
          <p:cNvSpPr/>
          <p:nvPr/>
        </p:nvSpPr>
        <p:spPr>
          <a:xfrm>
            <a:off x="9272016" y="1554480"/>
            <a:ext cx="2788920" cy="91440"/>
          </a:xfrm>
          <a:prstGeom prst="rect">
            <a:avLst/>
          </a:prstGeom>
          <a:solidFill>
            <a:srgbClr val="10B981"/>
          </a:solidFill>
          <a:ln w="12700">
            <a:solidFill>
              <a:srgbClr val="333333"/>
            </a:solidFill>
            <a:prstDash val="solid"/>
          </a:ln>
        </p:spPr>
      </p:sp>
      <p:sp>
        <p:nvSpPr>
          <p:cNvPr id="27" name="Text 25"/>
          <p:cNvSpPr/>
          <p:nvPr/>
        </p:nvSpPr>
        <p:spPr>
          <a:xfrm>
            <a:off x="9500616" y="1783080"/>
            <a:ext cx="1828800" cy="274320"/>
          </a:xfrm>
          <a:prstGeom prst="rect">
            <a:avLst/>
          </a:prstGeom>
          <a:noFill/>
          <a:ln/>
        </p:spPr>
        <p:txBody>
          <a:bodyPr wrap="square" lIns="0" tIns="0" rIns="0" bIns="0" rtlCol="0" anchor="ctr"/>
          <a:lstStyle/>
          <a:p>
            <a:pPr indent="0" marL="0">
              <a:buNone/>
            </a:pPr>
            <a:r>
              <a:rPr lang="en-US" sz="1000" b="1" spc="300" kern="0" dirty="0">
                <a:solidFill>
                  <a:srgbClr val="10B981"/>
                </a:solidFill>
              </a:rPr>
              <a:t>TRACK 4</a:t>
            </a:r>
            <a:endParaRPr lang="en-US" sz="1000" dirty="0"/>
          </a:p>
        </p:txBody>
      </p:sp>
      <p:sp>
        <p:nvSpPr>
          <p:cNvPr id="28" name="Text 26"/>
          <p:cNvSpPr/>
          <p:nvPr/>
        </p:nvSpPr>
        <p:spPr>
          <a:xfrm>
            <a:off x="9500616" y="2057400"/>
            <a:ext cx="2423160" cy="54864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Strategy Archetypes</a:t>
            </a:r>
            <a:endParaRPr lang="en-US" sz="1600" dirty="0"/>
          </a:p>
        </p:txBody>
      </p:sp>
      <p:sp>
        <p:nvSpPr>
          <p:cNvPr id="29" name="Text 27"/>
          <p:cNvSpPr/>
          <p:nvPr/>
        </p:nvSpPr>
        <p:spPr>
          <a:xfrm>
            <a:off x="9500616" y="2651760"/>
            <a:ext cx="2423160" cy="640080"/>
          </a:xfrm>
          <a:prstGeom prst="rect">
            <a:avLst/>
          </a:prstGeom>
          <a:noFill/>
          <a:ln/>
        </p:spPr>
        <p:txBody>
          <a:bodyPr wrap="square" lIns="0" tIns="0" rIns="0" bIns="0" rtlCol="0" anchor="ctr"/>
          <a:lstStyle/>
          <a:p>
            <a:pPr indent="0" marL="0">
              <a:buNone/>
            </a:pPr>
            <a:r>
              <a:rPr lang="en-US" sz="3600" b="1" dirty="0">
                <a:solidFill>
                  <a:srgbClr val="10B981"/>
                </a:solidFill>
                <a:latin typeface="Georgia" pitchFamily="34" charset="0"/>
                <a:ea typeface="Georgia" pitchFamily="34" charset="-122"/>
                <a:cs typeface="Georgia" pitchFamily="34" charset="-120"/>
              </a:rPr>
              <a:t>20%</a:t>
            </a:r>
            <a:endParaRPr lang="en-US" sz="3600" dirty="0"/>
          </a:p>
        </p:txBody>
      </p:sp>
      <p:sp>
        <p:nvSpPr>
          <p:cNvPr id="30" name="Text 28"/>
          <p:cNvSpPr/>
          <p:nvPr/>
        </p:nvSpPr>
        <p:spPr>
          <a:xfrm>
            <a:off x="9500616" y="3246120"/>
            <a:ext cx="2423160" cy="228600"/>
          </a:xfrm>
          <a:prstGeom prst="rect">
            <a:avLst/>
          </a:prstGeom>
          <a:noFill/>
          <a:ln/>
        </p:spPr>
        <p:txBody>
          <a:bodyPr wrap="square" lIns="0" tIns="0" rIns="0" bIns="0" rtlCol="0" anchor="ctr"/>
          <a:lstStyle/>
          <a:p>
            <a:pPr indent="0" marL="0">
              <a:buNone/>
            </a:pPr>
            <a:r>
              <a:rPr lang="en-US" sz="950" b="1" spc="300" kern="0" dirty="0">
                <a:solidFill>
                  <a:srgbClr val="475569"/>
                </a:solidFill>
              </a:rPr>
              <a:t>MEDIUM</a:t>
            </a:r>
            <a:endParaRPr lang="en-US" sz="950" dirty="0"/>
          </a:p>
        </p:txBody>
      </p:sp>
      <p:sp>
        <p:nvSpPr>
          <p:cNvPr id="31" name="Text 29"/>
          <p:cNvSpPr/>
          <p:nvPr/>
        </p:nvSpPr>
        <p:spPr>
          <a:xfrm>
            <a:off x="9500616" y="3520440"/>
            <a:ext cx="2423160" cy="457200"/>
          </a:xfrm>
          <a:prstGeom prst="rect">
            <a:avLst/>
          </a:prstGeom>
          <a:noFill/>
          <a:ln/>
        </p:spPr>
        <p:txBody>
          <a:bodyPr wrap="square" lIns="0" tIns="0" rIns="0" bIns="0" rtlCol="0" anchor="ctr"/>
          <a:lstStyle/>
          <a:p>
            <a:pPr indent="0" marL="0">
              <a:buNone/>
            </a:pPr>
            <a:r>
              <a:rPr lang="en-US" sz="1100" i="1" dirty="0">
                <a:solidFill>
                  <a:srgbClr val="0F172A"/>
                </a:solidFill>
              </a:rPr>
              <a:t>Clean taxonomy for risk budgeting</a:t>
            </a:r>
            <a:endParaRPr lang="en-US" sz="1100" dirty="0"/>
          </a:p>
        </p:txBody>
      </p:sp>
      <p:sp>
        <p:nvSpPr>
          <p:cNvPr id="32" name="Shape 30"/>
          <p:cNvSpPr/>
          <p:nvPr/>
        </p:nvSpPr>
        <p:spPr>
          <a:xfrm>
            <a:off x="548640" y="4251960"/>
            <a:ext cx="11155680" cy="1828800"/>
          </a:xfrm>
          <a:prstGeom prst="rect">
            <a:avLst/>
          </a:prstGeom>
          <a:solidFill>
            <a:srgbClr val="0B1E3F"/>
          </a:solidFill>
          <a:ln w="12700">
            <a:solidFill>
              <a:srgbClr val="333333"/>
            </a:solidFill>
            <a:prstDash val="solid"/>
          </a:ln>
        </p:spPr>
      </p:sp>
      <p:sp>
        <p:nvSpPr>
          <p:cNvPr id="33" name="Text 31"/>
          <p:cNvSpPr/>
          <p:nvPr/>
        </p:nvSpPr>
        <p:spPr>
          <a:xfrm>
            <a:off x="914400" y="4480560"/>
            <a:ext cx="10424160" cy="320040"/>
          </a:xfrm>
          <a:prstGeom prst="rect">
            <a:avLst/>
          </a:prstGeom>
          <a:noFill/>
          <a:ln/>
        </p:spPr>
        <p:txBody>
          <a:bodyPr wrap="square" lIns="0" tIns="0" rIns="0" bIns="0" rtlCol="0" anchor="ctr"/>
          <a:lstStyle/>
          <a:p>
            <a:pPr indent="0" marL="0">
              <a:buNone/>
            </a:pPr>
            <a:r>
              <a:rPr lang="en-US" sz="1100" b="1" spc="400" kern="0" dirty="0">
                <a:solidFill>
                  <a:srgbClr val="00C2A8"/>
                </a:solidFill>
              </a:rPr>
              <a:t>SHARED INFRASTRUCTURE  →  enforced across all 4 tracks</a:t>
            </a:r>
            <a:endParaRPr lang="en-US" sz="1100" dirty="0"/>
          </a:p>
        </p:txBody>
      </p:sp>
      <p:pic>
        <p:nvPicPr>
          <p:cNvPr id="34" name="Image 0" descr="preencoded.png">    </p:cNvPr>
          <p:cNvPicPr>
            <a:picLocks noChangeAspect="1"/>
          </p:cNvPicPr>
          <p:nvPr/>
        </p:nvPicPr>
        <p:blipFill>
          <a:blip r:embed="rId1"/>
          <a:stretch>
            <a:fillRect/>
          </a:stretch>
        </p:blipFill>
        <p:spPr>
          <a:xfrm>
            <a:off x="914400" y="5029200"/>
            <a:ext cx="365760" cy="365760"/>
          </a:xfrm>
          <a:prstGeom prst="rect">
            <a:avLst/>
          </a:prstGeom>
        </p:spPr>
      </p:pic>
      <p:sp>
        <p:nvSpPr>
          <p:cNvPr id="35" name="Text 32"/>
          <p:cNvSpPr/>
          <p:nvPr/>
        </p:nvSpPr>
        <p:spPr>
          <a:xfrm>
            <a:off x="1371600" y="4983480"/>
            <a:ext cx="2194560" cy="320040"/>
          </a:xfrm>
          <a:prstGeom prst="rect">
            <a:avLst/>
          </a:prstGeom>
          <a:noFill/>
          <a:ln/>
        </p:spPr>
        <p:txBody>
          <a:bodyPr wrap="square" lIns="0" tIns="0" rIns="0" bIns="0" rtlCol="0" anchor="ctr"/>
          <a:lstStyle/>
          <a:p>
            <a:pPr indent="0" marL="0">
              <a:buNone/>
            </a:pPr>
            <a:r>
              <a:rPr lang="en-US" sz="1300" b="1" dirty="0">
                <a:solidFill>
                  <a:srgbClr val="FFFFFF"/>
                </a:solidFill>
              </a:rPr>
              <a:t>Critic Agent</a:t>
            </a:r>
            <a:endParaRPr lang="en-US" sz="1300" dirty="0"/>
          </a:p>
        </p:txBody>
      </p:sp>
      <p:sp>
        <p:nvSpPr>
          <p:cNvPr id="36" name="Text 33"/>
          <p:cNvSpPr/>
          <p:nvPr/>
        </p:nvSpPr>
        <p:spPr>
          <a:xfrm>
            <a:off x="1371600" y="5303520"/>
            <a:ext cx="2194560" cy="640080"/>
          </a:xfrm>
          <a:prstGeom prst="rect">
            <a:avLst/>
          </a:prstGeom>
          <a:noFill/>
          <a:ln/>
        </p:spPr>
        <p:txBody>
          <a:bodyPr wrap="square" lIns="0" tIns="0" rIns="0" bIns="0" rtlCol="0" anchor="ctr"/>
          <a:lstStyle/>
          <a:p>
            <a:pPr indent="0" marL="0">
              <a:buNone/>
            </a:pPr>
            <a:r>
              <a:rPr lang="en-US" sz="1050" dirty="0">
                <a:solidFill>
                  <a:srgbClr val="CADCFC"/>
                </a:solidFill>
              </a:rPr>
              <a:t>Common overfitting / look-ahead checks</a:t>
            </a:r>
            <a:endParaRPr lang="en-US" sz="1050" dirty="0"/>
          </a:p>
        </p:txBody>
      </p:sp>
      <p:pic>
        <p:nvPicPr>
          <p:cNvPr id="37" name="Image 1" descr="preencoded.png">    </p:cNvPr>
          <p:cNvPicPr>
            <a:picLocks noChangeAspect="1"/>
          </p:cNvPicPr>
          <p:nvPr/>
        </p:nvPicPr>
        <p:blipFill>
          <a:blip r:embed="rId2"/>
          <a:stretch>
            <a:fillRect/>
          </a:stretch>
        </p:blipFill>
        <p:spPr>
          <a:xfrm>
            <a:off x="3611880" y="5029200"/>
            <a:ext cx="365760" cy="365760"/>
          </a:xfrm>
          <a:prstGeom prst="rect">
            <a:avLst/>
          </a:prstGeom>
        </p:spPr>
      </p:pic>
      <p:sp>
        <p:nvSpPr>
          <p:cNvPr id="38" name="Text 34"/>
          <p:cNvSpPr/>
          <p:nvPr/>
        </p:nvSpPr>
        <p:spPr>
          <a:xfrm>
            <a:off x="4069080" y="4983480"/>
            <a:ext cx="2194560" cy="320040"/>
          </a:xfrm>
          <a:prstGeom prst="rect">
            <a:avLst/>
          </a:prstGeom>
          <a:noFill/>
          <a:ln/>
        </p:spPr>
        <p:txBody>
          <a:bodyPr wrap="square" lIns="0" tIns="0" rIns="0" bIns="0" rtlCol="0" anchor="ctr"/>
          <a:lstStyle/>
          <a:p>
            <a:pPr indent="0" marL="0">
              <a:buNone/>
            </a:pPr>
            <a:r>
              <a:rPr lang="en-US" sz="1300" b="1" dirty="0">
                <a:solidFill>
                  <a:srgbClr val="FFFFFF"/>
                </a:solidFill>
              </a:rPr>
              <a:t>Strategy Registry</a:t>
            </a:r>
            <a:endParaRPr lang="en-US" sz="1300" dirty="0"/>
          </a:p>
        </p:txBody>
      </p:sp>
      <p:sp>
        <p:nvSpPr>
          <p:cNvPr id="39" name="Text 35"/>
          <p:cNvSpPr/>
          <p:nvPr/>
        </p:nvSpPr>
        <p:spPr>
          <a:xfrm>
            <a:off x="4069080" y="5303520"/>
            <a:ext cx="2194560" cy="640080"/>
          </a:xfrm>
          <a:prstGeom prst="rect">
            <a:avLst/>
          </a:prstGeom>
          <a:noFill/>
          <a:ln/>
        </p:spPr>
        <p:txBody>
          <a:bodyPr wrap="square" lIns="0" tIns="0" rIns="0" bIns="0" rtlCol="0" anchor="ctr"/>
          <a:lstStyle/>
          <a:p>
            <a:pPr indent="0" marL="0">
              <a:buNone/>
            </a:pPr>
            <a:r>
              <a:rPr lang="en-US" sz="1050" dirty="0">
                <a:solidFill>
                  <a:srgbClr val="CADCFC"/>
                </a:solidFill>
              </a:rPr>
              <a:t>JSON schema + dedupe across tracks</a:t>
            </a:r>
            <a:endParaRPr lang="en-US" sz="1050" dirty="0"/>
          </a:p>
        </p:txBody>
      </p:sp>
      <p:pic>
        <p:nvPicPr>
          <p:cNvPr id="40" name="Image 2" descr="preencoded.png">    </p:cNvPr>
          <p:cNvPicPr>
            <a:picLocks noChangeAspect="1"/>
          </p:cNvPicPr>
          <p:nvPr/>
        </p:nvPicPr>
        <p:blipFill>
          <a:blip r:embed="rId3"/>
          <a:stretch>
            <a:fillRect/>
          </a:stretch>
        </p:blipFill>
        <p:spPr>
          <a:xfrm>
            <a:off x="6309360" y="5029200"/>
            <a:ext cx="365760" cy="365760"/>
          </a:xfrm>
          <a:prstGeom prst="rect">
            <a:avLst/>
          </a:prstGeom>
        </p:spPr>
      </p:pic>
      <p:sp>
        <p:nvSpPr>
          <p:cNvPr id="41" name="Text 36"/>
          <p:cNvSpPr/>
          <p:nvPr/>
        </p:nvSpPr>
        <p:spPr>
          <a:xfrm>
            <a:off x="6766560" y="4983480"/>
            <a:ext cx="2194560" cy="320040"/>
          </a:xfrm>
          <a:prstGeom prst="rect">
            <a:avLst/>
          </a:prstGeom>
          <a:noFill/>
          <a:ln/>
        </p:spPr>
        <p:txBody>
          <a:bodyPr wrap="square" lIns="0" tIns="0" rIns="0" bIns="0" rtlCol="0" anchor="ctr"/>
          <a:lstStyle/>
          <a:p>
            <a:pPr indent="0" marL="0">
              <a:buNone/>
            </a:pPr>
            <a:r>
              <a:rPr lang="en-US" sz="1300" b="1" dirty="0">
                <a:solidFill>
                  <a:srgbClr val="FFFFFF"/>
                </a:solidFill>
              </a:rPr>
              <a:t>Backtest Harness</a:t>
            </a:r>
            <a:endParaRPr lang="en-US" sz="1300" dirty="0"/>
          </a:p>
        </p:txBody>
      </p:sp>
      <p:sp>
        <p:nvSpPr>
          <p:cNvPr id="42" name="Text 37"/>
          <p:cNvSpPr/>
          <p:nvPr/>
        </p:nvSpPr>
        <p:spPr>
          <a:xfrm>
            <a:off x="6766560" y="5303520"/>
            <a:ext cx="2194560" cy="640080"/>
          </a:xfrm>
          <a:prstGeom prst="rect">
            <a:avLst/>
          </a:prstGeom>
          <a:noFill/>
          <a:ln/>
        </p:spPr>
        <p:txBody>
          <a:bodyPr wrap="square" lIns="0" tIns="0" rIns="0" bIns="0" rtlCol="0" anchor="ctr"/>
          <a:lstStyle/>
          <a:p>
            <a:pPr indent="0" marL="0">
              <a:buNone/>
            </a:pPr>
            <a:r>
              <a:rPr lang="en-US" sz="1050" dirty="0">
                <a:solidFill>
                  <a:srgbClr val="CADCFC"/>
                </a:solidFill>
              </a:rPr>
              <a:t>Same costs, slippage, OOS protocol</a:t>
            </a:r>
            <a:endParaRPr lang="en-US" sz="1050" dirty="0"/>
          </a:p>
        </p:txBody>
      </p:sp>
      <p:pic>
        <p:nvPicPr>
          <p:cNvPr id="43" name="Image 3" descr="preencoded.png">    </p:cNvPr>
          <p:cNvPicPr>
            <a:picLocks noChangeAspect="1"/>
          </p:cNvPicPr>
          <p:nvPr/>
        </p:nvPicPr>
        <p:blipFill>
          <a:blip r:embed="rId4"/>
          <a:stretch>
            <a:fillRect/>
          </a:stretch>
        </p:blipFill>
        <p:spPr>
          <a:xfrm>
            <a:off x="9006840" y="5029200"/>
            <a:ext cx="365760" cy="365760"/>
          </a:xfrm>
          <a:prstGeom prst="rect">
            <a:avLst/>
          </a:prstGeom>
        </p:spPr>
      </p:pic>
      <p:sp>
        <p:nvSpPr>
          <p:cNvPr id="44" name="Text 38"/>
          <p:cNvSpPr/>
          <p:nvPr/>
        </p:nvSpPr>
        <p:spPr>
          <a:xfrm>
            <a:off x="9464040" y="4983480"/>
            <a:ext cx="2194560" cy="320040"/>
          </a:xfrm>
          <a:prstGeom prst="rect">
            <a:avLst/>
          </a:prstGeom>
          <a:noFill/>
          <a:ln/>
        </p:spPr>
        <p:txBody>
          <a:bodyPr wrap="square" lIns="0" tIns="0" rIns="0" bIns="0" rtlCol="0" anchor="ctr"/>
          <a:lstStyle/>
          <a:p>
            <a:pPr indent="0" marL="0">
              <a:buNone/>
            </a:pPr>
            <a:r>
              <a:rPr lang="en-US" sz="1300" b="1" dirty="0">
                <a:solidFill>
                  <a:srgbClr val="FFFFFF"/>
                </a:solidFill>
              </a:rPr>
              <a:t>Kill Criterion</a:t>
            </a:r>
            <a:endParaRPr lang="en-US" sz="1300" dirty="0"/>
          </a:p>
        </p:txBody>
      </p:sp>
      <p:sp>
        <p:nvSpPr>
          <p:cNvPr id="45" name="Text 39"/>
          <p:cNvSpPr/>
          <p:nvPr/>
        </p:nvSpPr>
        <p:spPr>
          <a:xfrm>
            <a:off x="9464040" y="5303520"/>
            <a:ext cx="2194560" cy="640080"/>
          </a:xfrm>
          <a:prstGeom prst="rect">
            <a:avLst/>
          </a:prstGeom>
          <a:noFill/>
          <a:ln/>
        </p:spPr>
        <p:txBody>
          <a:bodyPr wrap="square" lIns="0" tIns="0" rIns="0" bIns="0" rtlCol="0" anchor="ctr"/>
          <a:lstStyle/>
          <a:p>
            <a:pPr indent="0" marL="0">
              <a:buNone/>
            </a:pPr>
            <a:r>
              <a:rPr lang="en-US" sz="1050" dirty="0">
                <a:solidFill>
                  <a:srgbClr val="CADCFC"/>
                </a:solidFill>
              </a:rPr>
              <a:t>Survival rate review at week 4–6</a:t>
            </a:r>
            <a:endParaRPr lang="en-US" sz="1050" dirty="0"/>
          </a:p>
        </p:txBody>
      </p:sp>
      <p:sp>
        <p:nvSpPr>
          <p:cNvPr id="46" name="Text 40"/>
          <p:cNvSpPr/>
          <p:nvPr/>
        </p:nvSpPr>
        <p:spPr>
          <a:xfrm>
            <a:off x="548640" y="6263640"/>
            <a:ext cx="10972800" cy="274320"/>
          </a:xfrm>
          <a:prstGeom prst="rect">
            <a:avLst/>
          </a:prstGeom>
          <a:noFill/>
          <a:ln/>
        </p:spPr>
        <p:txBody>
          <a:bodyPr wrap="square" lIns="0" tIns="0" rIns="0" bIns="0" rtlCol="0" anchor="ctr"/>
          <a:lstStyle/>
          <a:p>
            <a:pPr algn="ctr" indent="0" marL="0">
              <a:buNone/>
            </a:pPr>
            <a:r>
              <a:rPr lang="en-US" sz="1100" i="1" dirty="0">
                <a:solidFill>
                  <a:srgbClr val="475569"/>
                </a:solidFill>
              </a:rPr>
              <a:t>All candidate strategies flow through one funnel. Different sources, identical bar.</a:t>
            </a:r>
            <a:endParaRPr lang="en-US" sz="1100" dirty="0"/>
          </a:p>
        </p:txBody>
      </p:sp>
      <p:sp>
        <p:nvSpPr>
          <p:cNvPr id="47" name="Text 41"/>
          <p:cNvSpPr/>
          <p:nvPr/>
        </p:nvSpPr>
        <p:spPr>
          <a:xfrm>
            <a:off x="11430000" y="6446520"/>
            <a:ext cx="640080" cy="274320"/>
          </a:xfrm>
          <a:prstGeom prst="rect">
            <a:avLst/>
          </a:prstGeom>
          <a:noFill/>
          <a:ln/>
        </p:spPr>
        <p:txBody>
          <a:bodyPr wrap="square" lIns="0" tIns="0" rIns="0" bIns="0" rtlCol="0" anchor="ctr"/>
          <a:lstStyle/>
          <a:p>
            <a:pPr algn="r" indent="0" marL="0">
              <a:buNone/>
            </a:pPr>
            <a:r>
              <a:rPr lang="en-US" sz="900" dirty="0">
                <a:solidFill>
                  <a:srgbClr val="475569"/>
                </a:solidFill>
              </a:rPr>
              <a:t>8 / 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Multi-Track Strategy Discovery</dc:title>
  <dc:subject>PptxGenJS Presentation</dc:subject>
  <dc:creator>Guanlun</dc:creator>
  <cp:lastModifiedBy>Guanlun</cp:lastModifiedBy>
  <cp:revision>1</cp:revision>
  <dcterms:created xsi:type="dcterms:W3CDTF">2026-05-08T13:15:03Z</dcterms:created>
  <dcterms:modified xsi:type="dcterms:W3CDTF">2026-05-08T13:15:03Z</dcterms:modified>
</cp:coreProperties>
</file>